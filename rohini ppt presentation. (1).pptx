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74" r:id="rId5"/>
    <p:sldId id="259" r:id="rId6"/>
    <p:sldId id="275" r:id="rId7"/>
    <p:sldId id="260" r:id="rId8"/>
    <p:sldId id="276" r:id="rId9"/>
    <p:sldId id="261" r:id="rId10"/>
    <p:sldId id="277" r:id="rId11"/>
    <p:sldId id="262" r:id="rId12"/>
    <p:sldId id="278" r:id="rId13"/>
    <p:sldId id="279" r:id="rId14"/>
    <p:sldId id="263" r:id="rId15"/>
    <p:sldId id="280" r:id="rId16"/>
    <p:sldId id="281" r:id="rId17"/>
    <p:sldId id="264" r:id="rId18"/>
    <p:sldId id="282" r:id="rId19"/>
    <p:sldId id="293" r:id="rId20"/>
    <p:sldId id="265" r:id="rId21"/>
    <p:sldId id="294" r:id="rId22"/>
    <p:sldId id="295" r:id="rId23"/>
    <p:sldId id="266" r:id="rId24"/>
    <p:sldId id="292" r:id="rId25"/>
    <p:sldId id="267" r:id="rId26"/>
    <p:sldId id="291" r:id="rId27"/>
    <p:sldId id="268" r:id="rId28"/>
    <p:sldId id="289" r:id="rId29"/>
    <p:sldId id="290" r:id="rId30"/>
    <p:sldId id="269" r:id="rId31"/>
    <p:sldId id="287" r:id="rId32"/>
    <p:sldId id="288" r:id="rId33"/>
    <p:sldId id="270" r:id="rId34"/>
    <p:sldId id="285" r:id="rId35"/>
    <p:sldId id="286" r:id="rId36"/>
    <p:sldId id="271" r:id="rId37"/>
    <p:sldId id="284" r:id="rId38"/>
    <p:sldId id="272" r:id="rId39"/>
    <p:sldId id="283" r:id="rId40"/>
    <p:sldId id="273" r:id="rId4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p:cViewPr varScale="1">
        <p:scale>
          <a:sx n="85" d="100"/>
          <a:sy n="85" d="100"/>
        </p:scale>
        <p:origin x="427"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A462C8D-AF77-4384-A1DB-0C953C7A3D8A}" type="datetimeFigureOut">
              <a:rPr lang="en-US" smtClean="0"/>
              <a:t>2/17/2026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873E5E3-F380-45F9-842D-BB8605D94183}" type="slidenum">
              <a:rPr lang="en-US" smtClean="0"/>
              <a:t>‹#›</a:t>
            </a:fld>
            <a:endParaRPr lang="en-US"/>
          </a:p>
        </p:txBody>
      </p:sp>
    </p:spTree>
    <p:extLst>
      <p:ext uri="{BB962C8B-B14F-4D97-AF65-F5344CB8AC3E}">
        <p14:creationId xmlns:p14="http://schemas.microsoft.com/office/powerpoint/2010/main" val="2635550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17/02/2026</a:t>
            </a:r>
          </a:p>
          <a:p>
            <a:endParaRPr lang="en-US" dirty="0"/>
          </a:p>
        </p:txBody>
      </p:sp>
      <p:sp>
        <p:nvSpPr>
          <p:cNvPr id="4" name="Slide Number Placeholder 3"/>
          <p:cNvSpPr>
            <a:spLocks noGrp="1"/>
          </p:cNvSpPr>
          <p:nvPr>
            <p:ph type="sldNum" sz="quarter" idx="5"/>
          </p:nvPr>
        </p:nvSpPr>
        <p:spPr/>
        <p:txBody>
          <a:bodyPr/>
          <a:lstStyle/>
          <a:p>
            <a:fld id="{0873E5E3-F380-45F9-842D-BB8605D94183}" type="slidenum">
              <a:rPr lang="en-US" smtClean="0"/>
              <a:t>1</a:t>
            </a:fld>
            <a:endParaRPr lang="en-US"/>
          </a:p>
        </p:txBody>
      </p:sp>
    </p:spTree>
    <p:extLst>
      <p:ext uri="{BB962C8B-B14F-4D97-AF65-F5344CB8AC3E}">
        <p14:creationId xmlns:p14="http://schemas.microsoft.com/office/powerpoint/2010/main" val="45736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70687" y="2116962"/>
            <a:ext cx="7646034" cy="635000"/>
          </a:xfrm>
          <a:prstGeom prst="rect">
            <a:avLst/>
          </a:prstGeom>
        </p:spPr>
        <p:txBody>
          <a:bodyPr wrap="square" lIns="0" tIns="0" rIns="0" bIns="0">
            <a:spAutoFit/>
          </a:bodyPr>
          <a:lstStyle>
            <a:lvl1pPr>
              <a:defRPr sz="4400" b="1" i="0">
                <a:solidFill>
                  <a:schemeClr val="tx1"/>
                </a:solidFill>
                <a:latin typeface="Courier New"/>
                <a:cs typeface="Courier New"/>
              </a:defRPr>
            </a:lvl1pPr>
          </a:lstStyle>
          <a:p>
            <a:endParaRPr/>
          </a:p>
        </p:txBody>
      </p:sp>
      <p:sp>
        <p:nvSpPr>
          <p:cNvPr id="3" name="Holder 3"/>
          <p:cNvSpPr>
            <a:spLocks noGrp="1"/>
          </p:cNvSpPr>
          <p:nvPr>
            <p:ph type="subTitle" idx="4"/>
          </p:nvPr>
        </p:nvSpPr>
        <p:spPr>
          <a:xfrm>
            <a:off x="4266310" y="4839367"/>
            <a:ext cx="3659378" cy="1005204"/>
          </a:xfrm>
          <a:prstGeom prst="rect">
            <a:avLst/>
          </a:prstGeom>
        </p:spPr>
        <p:txBody>
          <a:bodyPr wrap="square" lIns="0" tIns="0" rIns="0" bIns="0">
            <a:spAutoFit/>
          </a:bodyPr>
          <a:lstStyle>
            <a:lvl1pPr>
              <a:defRPr sz="2800" b="0" i="0">
                <a:solidFill>
                  <a:schemeClr val="tx1"/>
                </a:solidFill>
                <a:latin typeface="Courier New"/>
                <a:cs typeface="Courier Ne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Courier New"/>
                <a:cs typeface="Courier New"/>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ourier New"/>
                <a:cs typeface="Courier New"/>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Courier New"/>
                <a:cs typeface="Courier New"/>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B6114D"/>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1" i="0">
                <a:solidFill>
                  <a:schemeClr val="tx1"/>
                </a:solidFill>
                <a:latin typeface="Courier New"/>
                <a:cs typeface="Courier New"/>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7238"/>
            <a:ext cx="9416415" cy="1602232"/>
          </a:xfrm>
          <a:prstGeom prst="rect">
            <a:avLst/>
          </a:prstGeom>
        </p:spPr>
        <p:txBody>
          <a:bodyPr wrap="square" lIns="0" tIns="0" rIns="0" bIns="0">
            <a:spAutoFit/>
          </a:bodyPr>
          <a:lstStyle>
            <a:lvl1pPr>
              <a:defRPr sz="4400" b="1" i="0">
                <a:solidFill>
                  <a:schemeClr val="tx1"/>
                </a:solidFill>
                <a:latin typeface="Courier New"/>
                <a:cs typeface="Courier New"/>
              </a:defRPr>
            </a:lvl1pPr>
          </a:lstStyle>
          <a:p>
            <a:endParaRPr/>
          </a:p>
        </p:txBody>
      </p:sp>
      <p:sp>
        <p:nvSpPr>
          <p:cNvPr id="3" name="Holder 3"/>
          <p:cNvSpPr>
            <a:spLocks noGrp="1"/>
          </p:cNvSpPr>
          <p:nvPr>
            <p:ph type="body" idx="1"/>
          </p:nvPr>
        </p:nvSpPr>
        <p:spPr>
          <a:xfrm>
            <a:off x="916939" y="1701820"/>
            <a:ext cx="6001384" cy="1557020"/>
          </a:xfrm>
          <a:prstGeom prst="rect">
            <a:avLst/>
          </a:prstGeom>
        </p:spPr>
        <p:txBody>
          <a:bodyPr wrap="square" lIns="0" tIns="0" rIns="0" bIns="0">
            <a:spAutoFit/>
          </a:bodyPr>
          <a:lstStyle>
            <a:lvl1pPr>
              <a:defRPr sz="2800" b="0" i="0">
                <a:solidFill>
                  <a:schemeClr val="tx1"/>
                </a:solidFill>
                <a:latin typeface="Courier New"/>
                <a:cs typeface="Courier New"/>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hmmlearn.readthedocs.io/Kaggle" TargetMode="External"/><Relationship Id="rId2" Type="http://schemas.openxmlformats.org/officeDocument/2006/relationships/hyperlink" Target="https://scikit-learn.org/stable/modules/mixture.htmlhmmlearn" TargetMode="External"/><Relationship Id="rId1" Type="http://schemas.openxmlformats.org/officeDocument/2006/relationships/slideLayout" Target="../slideLayouts/slideLayout5.xml"/><Relationship Id="rId4" Type="http://schemas.openxmlformats.org/officeDocument/2006/relationships/hyperlink" Target="https://www.kaggle.com/datamunge/sign-language-mnist"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subTitle" idx="4"/>
          </p:nvPr>
        </p:nvSpPr>
        <p:spPr>
          <a:prstGeom prst="rect">
            <a:avLst/>
          </a:prstGeom>
        </p:spPr>
        <p:txBody>
          <a:bodyPr vert="horz" wrap="square" lIns="0" tIns="0" rIns="0" bIns="0" rtlCol="0">
            <a:spAutoFit/>
          </a:bodyPr>
          <a:lstStyle/>
          <a:p>
            <a:pPr marL="1270">
              <a:lnSpc>
                <a:spcPts val="4130"/>
              </a:lnSpc>
            </a:pPr>
            <a:r>
              <a:rPr sz="4000" spc="-10" dirty="0">
                <a:solidFill>
                  <a:srgbClr val="B91F54"/>
                </a:solidFill>
              </a:rPr>
              <a:t>INTRODUCTION</a:t>
            </a:r>
            <a:endParaRPr sz="4000"/>
          </a:p>
          <a:p>
            <a:pPr marL="19050">
              <a:lnSpc>
                <a:spcPct val="100000"/>
              </a:lnSpc>
              <a:spcBef>
                <a:spcPts val="145"/>
              </a:spcBef>
            </a:pPr>
            <a:r>
              <a:rPr dirty="0"/>
              <a:t>FOR</a:t>
            </a:r>
            <a:r>
              <a:rPr spc="-30" dirty="0"/>
              <a:t> </a:t>
            </a:r>
            <a:r>
              <a:rPr dirty="0"/>
              <a:t>NEW</a:t>
            </a:r>
            <a:r>
              <a:rPr spc="-15" dirty="0"/>
              <a:t> </a:t>
            </a:r>
            <a:r>
              <a:rPr spc="-10" dirty="0"/>
              <a:t>EMPLOYEES</a:t>
            </a: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3" cstate="print"/>
            <a:stretch>
              <a:fillRect/>
            </a:stretch>
          </p:blipFill>
          <p:spPr>
            <a:xfrm>
              <a:off x="0" y="0"/>
              <a:ext cx="12192000" cy="6857999"/>
            </a:xfrm>
            <a:prstGeom prst="rect">
              <a:avLst/>
            </a:prstGeom>
          </p:spPr>
        </p:pic>
        <p:pic>
          <p:nvPicPr>
            <p:cNvPr id="5" name="object 5"/>
            <p:cNvPicPr/>
            <p:nvPr/>
          </p:nvPicPr>
          <p:blipFill>
            <a:blip r:embed="rId4" cstate="print"/>
            <a:stretch>
              <a:fillRect/>
            </a:stretch>
          </p:blipFill>
          <p:spPr>
            <a:xfrm>
              <a:off x="943355" y="754380"/>
              <a:ext cx="3602736" cy="611124"/>
            </a:xfrm>
            <a:prstGeom prst="rect">
              <a:avLst/>
            </a:prstGeom>
          </p:spPr>
        </p:pic>
      </p:grpSp>
      <p:sp>
        <p:nvSpPr>
          <p:cNvPr id="6" name="object 6"/>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sz="4000" dirty="0">
                <a:solidFill>
                  <a:srgbClr val="B91F54"/>
                </a:solidFill>
              </a:rPr>
              <a:t>21CSA697A</a:t>
            </a:r>
            <a:r>
              <a:rPr sz="4000" spc="-125" dirty="0">
                <a:solidFill>
                  <a:srgbClr val="B91F54"/>
                </a:solidFill>
              </a:rPr>
              <a:t> </a:t>
            </a:r>
            <a:r>
              <a:rPr sz="4000" dirty="0">
                <a:solidFill>
                  <a:srgbClr val="B91F54"/>
                </a:solidFill>
              </a:rPr>
              <a:t>–</a:t>
            </a:r>
            <a:r>
              <a:rPr sz="4000" spc="-120" dirty="0">
                <a:solidFill>
                  <a:srgbClr val="B91F54"/>
                </a:solidFill>
              </a:rPr>
              <a:t> </a:t>
            </a:r>
            <a:r>
              <a:rPr sz="4000" dirty="0">
                <a:solidFill>
                  <a:srgbClr val="B91F54"/>
                </a:solidFill>
              </a:rPr>
              <a:t>Minor</a:t>
            </a:r>
            <a:r>
              <a:rPr sz="4000" spc="-120" dirty="0">
                <a:solidFill>
                  <a:srgbClr val="B91F54"/>
                </a:solidFill>
              </a:rPr>
              <a:t> </a:t>
            </a:r>
            <a:r>
              <a:rPr sz="4000" spc="-10" dirty="0">
                <a:solidFill>
                  <a:srgbClr val="B91F54"/>
                </a:solidFill>
              </a:rPr>
              <a:t>Project</a:t>
            </a:r>
            <a:endParaRPr sz="4000"/>
          </a:p>
        </p:txBody>
      </p:sp>
      <p:sp>
        <p:nvSpPr>
          <p:cNvPr id="7" name="object 7"/>
          <p:cNvSpPr txBox="1"/>
          <p:nvPr/>
        </p:nvSpPr>
        <p:spPr>
          <a:xfrm>
            <a:off x="570687" y="3723513"/>
            <a:ext cx="3975404" cy="443711"/>
          </a:xfrm>
          <a:prstGeom prst="rect">
            <a:avLst/>
          </a:prstGeom>
        </p:spPr>
        <p:txBody>
          <a:bodyPr vert="horz" wrap="square" lIns="0" tIns="12700" rIns="0" bIns="0" rtlCol="0">
            <a:spAutoFit/>
          </a:bodyPr>
          <a:lstStyle/>
          <a:p>
            <a:pPr marL="12700">
              <a:lnSpc>
                <a:spcPct val="100000"/>
              </a:lnSpc>
              <a:spcBef>
                <a:spcPts val="100"/>
              </a:spcBef>
            </a:pPr>
            <a:r>
              <a:rPr sz="2800" b="1" i="1" spc="-30">
                <a:solidFill>
                  <a:srgbClr val="A81C4A"/>
                </a:solidFill>
                <a:latin typeface="Arial"/>
                <a:cs typeface="Arial"/>
              </a:rPr>
              <a:t>DATE</a:t>
            </a:r>
            <a:r>
              <a:rPr sz="2800" b="1" i="1" spc="-215">
                <a:solidFill>
                  <a:srgbClr val="A81C4A"/>
                </a:solidFill>
                <a:latin typeface="Arial"/>
                <a:cs typeface="Arial"/>
              </a:rPr>
              <a:t> </a:t>
            </a:r>
            <a:r>
              <a:rPr sz="2800" b="1" i="1" spc="-50">
                <a:solidFill>
                  <a:srgbClr val="A81C4A"/>
                </a:solidFill>
                <a:latin typeface="Arial"/>
                <a:cs typeface="Arial"/>
              </a:rPr>
              <a:t>:</a:t>
            </a:r>
            <a:r>
              <a:rPr lang="en-US" sz="2800" b="1" i="1" spc="-50">
                <a:solidFill>
                  <a:srgbClr val="A81C4A"/>
                </a:solidFill>
                <a:latin typeface="Arial"/>
                <a:cs typeface="Arial"/>
              </a:rPr>
              <a:t>17-02-2026</a:t>
            </a:r>
            <a:endParaRPr sz="28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8" y="1905000"/>
            <a:ext cx="10284462" cy="4424929"/>
          </a:xfrm>
          <a:prstGeom prst="rect">
            <a:avLst/>
          </a:prstGeom>
        </p:spPr>
        <p:txBody>
          <a:bodyPr vert="horz" wrap="square" lIns="0" tIns="97155" rIns="0" bIns="0" rtlCol="0">
            <a:spAutoFit/>
          </a:bodyPr>
          <a:lstStyle/>
          <a:p>
            <a:pPr marL="240029" indent="-227329">
              <a:lnSpc>
                <a:spcPct val="100000"/>
              </a:lnSpc>
              <a:spcBef>
                <a:spcPts val="765"/>
              </a:spcBef>
              <a:buFont typeface="Arial MT"/>
              <a:buChar char="•"/>
              <a:tabLst>
                <a:tab pos="240029" algn="l"/>
              </a:tabLst>
            </a:pPr>
            <a:r>
              <a:rPr sz="2800" dirty="0">
                <a:latin typeface="Courier New"/>
                <a:cs typeface="Courier New"/>
              </a:rPr>
              <a:t>Project</a:t>
            </a:r>
            <a:r>
              <a:rPr sz="2800" spc="-40" dirty="0">
                <a:latin typeface="Courier New"/>
                <a:cs typeface="Courier New"/>
              </a:rPr>
              <a:t> </a:t>
            </a:r>
            <a:r>
              <a:rPr sz="2800" spc="-10" dirty="0">
                <a:latin typeface="Courier New"/>
                <a:cs typeface="Courier New"/>
              </a:rPr>
              <a:t>Title</a:t>
            </a:r>
            <a:r>
              <a:rPr lang="en-US" sz="2800" spc="-10" dirty="0">
                <a:latin typeface="Courier New"/>
                <a:cs typeface="Courier New"/>
              </a:rPr>
              <a:t>: Comparison of Hidden Markov Model (HMM) and Gaussian Mixture Model using Sign Language Data Set </a:t>
            </a:r>
            <a:endParaRPr sz="2800" dirty="0">
              <a:latin typeface="Courier New"/>
              <a:cs typeface="Courier New"/>
            </a:endParaRPr>
          </a:p>
          <a:p>
            <a:pPr marL="240665" indent="-227965">
              <a:lnSpc>
                <a:spcPct val="100000"/>
              </a:lnSpc>
              <a:spcBef>
                <a:spcPts val="665"/>
              </a:spcBef>
              <a:buFont typeface="Arial MT"/>
              <a:buChar char="•"/>
              <a:tabLst>
                <a:tab pos="240665" algn="l"/>
              </a:tabLst>
            </a:pPr>
            <a:r>
              <a:rPr sz="2800" dirty="0">
                <a:latin typeface="Courier New"/>
                <a:cs typeface="Courier New"/>
              </a:rPr>
              <a:t>Student</a:t>
            </a:r>
            <a:r>
              <a:rPr sz="2800" spc="-45" dirty="0">
                <a:latin typeface="Courier New"/>
                <a:cs typeface="Courier New"/>
              </a:rPr>
              <a:t> </a:t>
            </a:r>
            <a:r>
              <a:rPr sz="2800" spc="-20" dirty="0">
                <a:latin typeface="Courier New"/>
                <a:cs typeface="Courier New"/>
              </a:rPr>
              <a:t>Name</a:t>
            </a:r>
            <a:r>
              <a:rPr lang="en-US" sz="2800" spc="-20" dirty="0">
                <a:latin typeface="Courier New"/>
                <a:cs typeface="Courier New"/>
              </a:rPr>
              <a:t> : </a:t>
            </a:r>
            <a:r>
              <a:rPr lang="en-US" sz="2800" spc="-20" dirty="0" err="1">
                <a:latin typeface="Courier New"/>
                <a:cs typeface="Courier New"/>
              </a:rPr>
              <a:t>Meruvu</a:t>
            </a:r>
            <a:r>
              <a:rPr lang="en-US" sz="2800" spc="-20" dirty="0">
                <a:latin typeface="Courier New"/>
                <a:cs typeface="Courier New"/>
              </a:rPr>
              <a:t> Rohini Bharathi.</a:t>
            </a:r>
            <a:endParaRPr sz="2800" dirty="0">
              <a:latin typeface="Courier New"/>
              <a:cs typeface="Courier New"/>
            </a:endParaRPr>
          </a:p>
          <a:p>
            <a:pPr marL="240665" indent="-227965">
              <a:lnSpc>
                <a:spcPct val="100000"/>
              </a:lnSpc>
              <a:spcBef>
                <a:spcPts val="670"/>
              </a:spcBef>
              <a:buFont typeface="Arial MT"/>
              <a:buChar char="•"/>
              <a:tabLst>
                <a:tab pos="240665" algn="l"/>
              </a:tabLst>
            </a:pPr>
            <a:r>
              <a:rPr sz="2800" dirty="0">
                <a:latin typeface="Courier New"/>
                <a:cs typeface="Courier New"/>
              </a:rPr>
              <a:t>Register</a:t>
            </a:r>
            <a:r>
              <a:rPr sz="2800" spc="-50" dirty="0">
                <a:latin typeface="Courier New"/>
                <a:cs typeface="Courier New"/>
              </a:rPr>
              <a:t> </a:t>
            </a:r>
            <a:r>
              <a:rPr sz="2800" spc="-10" dirty="0">
                <a:latin typeface="Courier New"/>
                <a:cs typeface="Courier New"/>
              </a:rPr>
              <a:t>Number</a:t>
            </a:r>
            <a:r>
              <a:rPr lang="en-US" sz="2800" spc="-10" dirty="0">
                <a:latin typeface="Courier New"/>
                <a:cs typeface="Courier New"/>
              </a:rPr>
              <a:t>:AA.SC.P2MCA24074093</a:t>
            </a:r>
            <a:endParaRPr sz="2800" dirty="0">
              <a:latin typeface="Courier New"/>
              <a:cs typeface="Courier New"/>
            </a:endParaRPr>
          </a:p>
          <a:p>
            <a:pPr marL="240029" indent="-227329">
              <a:lnSpc>
                <a:spcPct val="100000"/>
              </a:lnSpc>
              <a:spcBef>
                <a:spcPts val="660"/>
              </a:spcBef>
              <a:buFont typeface="Arial MT"/>
              <a:buChar char="•"/>
              <a:tabLst>
                <a:tab pos="240029" algn="l"/>
              </a:tabLst>
            </a:pPr>
            <a:r>
              <a:rPr sz="2800" dirty="0">
                <a:latin typeface="Courier New"/>
                <a:cs typeface="Courier New"/>
              </a:rPr>
              <a:t>Program</a:t>
            </a:r>
            <a:r>
              <a:rPr sz="2800" spc="-50" dirty="0">
                <a:latin typeface="Courier New"/>
                <a:cs typeface="Courier New"/>
              </a:rPr>
              <a:t> </a:t>
            </a:r>
            <a:r>
              <a:rPr sz="2800" dirty="0">
                <a:latin typeface="Courier New"/>
                <a:cs typeface="Courier New"/>
              </a:rPr>
              <a:t>and</a:t>
            </a:r>
            <a:r>
              <a:rPr sz="2800" spc="-25" dirty="0">
                <a:latin typeface="Courier New"/>
                <a:cs typeface="Courier New"/>
              </a:rPr>
              <a:t> </a:t>
            </a:r>
            <a:r>
              <a:rPr sz="2800" spc="-10" dirty="0">
                <a:latin typeface="Courier New"/>
                <a:cs typeface="Courier New"/>
              </a:rPr>
              <a:t>Specialization</a:t>
            </a:r>
            <a:r>
              <a:rPr lang="en-US" sz="2800" spc="-10" dirty="0">
                <a:latin typeface="Courier New"/>
                <a:cs typeface="Courier New"/>
              </a:rPr>
              <a:t>: MCA-AI</a:t>
            </a:r>
            <a:endParaRPr sz="2800" dirty="0">
              <a:latin typeface="Courier New"/>
              <a:cs typeface="Courier New"/>
            </a:endParaRPr>
          </a:p>
          <a:p>
            <a:pPr marL="240665" indent="-227965">
              <a:lnSpc>
                <a:spcPct val="100000"/>
              </a:lnSpc>
              <a:spcBef>
                <a:spcPts val="660"/>
              </a:spcBef>
              <a:buFont typeface="Arial MT"/>
              <a:buChar char="•"/>
              <a:tabLst>
                <a:tab pos="240665" algn="l"/>
              </a:tabLst>
            </a:pPr>
            <a:r>
              <a:rPr sz="2800" spc="-10" dirty="0">
                <a:latin typeface="Courier New"/>
                <a:cs typeface="Courier New"/>
              </a:rPr>
              <a:t>Semester</a:t>
            </a:r>
            <a:r>
              <a:rPr lang="en-US" sz="2800" spc="-10" dirty="0">
                <a:latin typeface="Courier New"/>
                <a:cs typeface="Courier New"/>
              </a:rPr>
              <a:t>:3</a:t>
            </a:r>
            <a:endParaRPr sz="2800" dirty="0">
              <a:latin typeface="Courier New"/>
              <a:cs typeface="Courier New"/>
            </a:endParaRPr>
          </a:p>
          <a:p>
            <a:pPr marL="240665" indent="-227965">
              <a:lnSpc>
                <a:spcPct val="100000"/>
              </a:lnSpc>
              <a:spcBef>
                <a:spcPts val="675"/>
              </a:spcBef>
              <a:buFont typeface="Arial MT"/>
              <a:buChar char="•"/>
              <a:tabLst>
                <a:tab pos="240665" algn="l"/>
              </a:tabLst>
            </a:pPr>
            <a:r>
              <a:rPr sz="2800" dirty="0">
                <a:latin typeface="Courier New"/>
                <a:cs typeface="Courier New"/>
              </a:rPr>
              <a:t>Department</a:t>
            </a:r>
            <a:r>
              <a:rPr sz="2800" spc="-65" dirty="0">
                <a:latin typeface="Courier New"/>
                <a:cs typeface="Courier New"/>
              </a:rPr>
              <a:t> </a:t>
            </a:r>
            <a:r>
              <a:rPr sz="2800" dirty="0">
                <a:latin typeface="Courier New"/>
                <a:cs typeface="Courier New"/>
              </a:rPr>
              <a:t>&amp;</a:t>
            </a:r>
            <a:r>
              <a:rPr sz="2800" spc="-5" dirty="0">
                <a:latin typeface="Courier New"/>
                <a:cs typeface="Courier New"/>
              </a:rPr>
              <a:t> </a:t>
            </a:r>
            <a:r>
              <a:rPr sz="2800" spc="-10" dirty="0">
                <a:latin typeface="Courier New"/>
                <a:cs typeface="Courier New"/>
              </a:rPr>
              <a:t>Institution</a:t>
            </a:r>
            <a:r>
              <a:rPr lang="en-US" sz="2800" spc="-10" dirty="0">
                <a:latin typeface="Courier New"/>
                <a:cs typeface="Courier New"/>
              </a:rPr>
              <a:t> :Master of Computer Applications, Amrita Vishwa Vidyapeetham.</a:t>
            </a:r>
            <a:endParaRPr sz="2800" dirty="0">
              <a:latin typeface="Courier New"/>
              <a:cs typeface="Courier New"/>
            </a:endParaRPr>
          </a:p>
        </p:txBody>
      </p:sp>
      <p:pic>
        <p:nvPicPr>
          <p:cNvPr id="3" name="object 3"/>
          <p:cNvPicPr/>
          <p:nvPr/>
        </p:nvPicPr>
        <p:blipFill>
          <a:blip r:embed="rId2" cstate="print"/>
          <a:stretch>
            <a:fillRect/>
          </a:stretch>
        </p:blipFill>
        <p:spPr>
          <a:xfrm>
            <a:off x="943355" y="754380"/>
            <a:ext cx="3602736" cy="6111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08914" rIns="0" bIns="0" rtlCol="0">
            <a:spAutoFit/>
          </a:bodyPr>
          <a:lstStyle/>
          <a:p>
            <a:pPr marL="12700">
              <a:lnSpc>
                <a:spcPct val="100000"/>
              </a:lnSpc>
              <a:spcBef>
                <a:spcPts val="105"/>
              </a:spcBef>
            </a:pPr>
            <a:r>
              <a:rPr spc="-10" dirty="0">
                <a:solidFill>
                  <a:srgbClr val="2C465B"/>
                </a:solidFill>
              </a:rPr>
              <a:t>Introduction</a:t>
            </a:r>
          </a:p>
        </p:txBody>
      </p:sp>
      <p:sp>
        <p:nvSpPr>
          <p:cNvPr id="3" name="object 3"/>
          <p:cNvSpPr txBox="1"/>
          <p:nvPr/>
        </p:nvSpPr>
        <p:spPr>
          <a:xfrm>
            <a:off x="916938" y="1295400"/>
            <a:ext cx="10741662" cy="2682145"/>
          </a:xfrm>
          <a:prstGeom prst="rect">
            <a:avLst/>
          </a:prstGeom>
        </p:spPr>
        <p:txBody>
          <a:bodyPr vert="horz" wrap="square" lIns="0" tIns="95885" rIns="0" bIns="0" rtlCol="0">
            <a:spAutoFit/>
          </a:bodyPr>
          <a:lstStyle/>
          <a:p>
            <a:pPr marL="240665" indent="-227965">
              <a:lnSpc>
                <a:spcPct val="100000"/>
              </a:lnSpc>
              <a:spcBef>
                <a:spcPts val="755"/>
              </a:spcBef>
              <a:buFont typeface="Arial MT"/>
              <a:buChar char="•"/>
              <a:tabLst>
                <a:tab pos="240665" algn="l"/>
              </a:tabLst>
            </a:pPr>
            <a:r>
              <a:rPr sz="2800" dirty="0">
                <a:latin typeface="Courier New"/>
                <a:cs typeface="Courier New"/>
              </a:rPr>
              <a:t>Domain</a:t>
            </a:r>
            <a:r>
              <a:rPr sz="2800" spc="-50" dirty="0">
                <a:latin typeface="Courier New"/>
                <a:cs typeface="Courier New"/>
              </a:rPr>
              <a:t> </a:t>
            </a:r>
            <a:r>
              <a:rPr sz="2800" spc="-10" dirty="0">
                <a:latin typeface="Courier New"/>
                <a:cs typeface="Courier New"/>
              </a:rPr>
              <a:t>overview</a:t>
            </a:r>
            <a:r>
              <a:rPr lang="en-US" sz="2800" spc="-10" dirty="0">
                <a:latin typeface="Courier New"/>
                <a:cs typeface="Courier New"/>
              </a:rPr>
              <a:t> :  </a:t>
            </a:r>
            <a:r>
              <a:rPr lang="en-US" sz="2000" spc="-10" dirty="0">
                <a:latin typeface="Courier New"/>
                <a:cs typeface="Courier New"/>
              </a:rPr>
              <a:t>The Bridge of Sign Language​Sign Language is a rich, visual-gestural language used by millions globally. Unlike spoken languages, it relies on the simultaneous use of hand shapes, orientations, and movements to convey meaning.​The Data Challenge: In computer vision, sign language recognition involves converting raw pixel intensities into meaningful linguistic labels.​The Approach: This project utilizes the Sign Language MNIST dataset, focusing on static gestures that can be modeled as distinct probabilistic states.</a:t>
            </a:r>
            <a:endParaRPr lang="en-US" sz="2000" dirty="0">
              <a:latin typeface="Courier New"/>
              <a:cs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B51418-B115-9496-A6D8-4205CF74F9CC}"/>
              </a:ext>
            </a:extLst>
          </p:cNvPr>
          <p:cNvSpPr txBox="1"/>
          <p:nvPr/>
        </p:nvSpPr>
        <p:spPr>
          <a:xfrm>
            <a:off x="228600" y="533400"/>
            <a:ext cx="10210800" cy="3416320"/>
          </a:xfrm>
          <a:prstGeom prst="rect">
            <a:avLst/>
          </a:prstGeom>
          <a:noFill/>
        </p:spPr>
        <p:txBody>
          <a:bodyPr wrap="square">
            <a:spAutoFit/>
          </a:bodyPr>
          <a:lstStyle/>
          <a:p>
            <a:endParaRPr lang="en-US" dirty="0"/>
          </a:p>
          <a:p>
            <a:r>
              <a:rPr lang="en-US" dirty="0"/>
              <a:t>2. </a:t>
            </a:r>
            <a:r>
              <a:rPr lang="en-US" b="1" dirty="0"/>
              <a:t>Research Context and Motivation </a:t>
            </a:r>
            <a:r>
              <a:rPr lang="en-US" dirty="0"/>
              <a:t>: ​While modern Deep Learning (CNNs) dominates image recognition, it often acts as a "black box." This research explores Generative Models—specifically HMMs and GMMs—to understand the underlying distribution of the data.​The "Why": We want to determine if simpler probabilistic frameworks can effectively distinguish between similar hand signs using a limited subset of feature inputs (pixel data).​The Core Comparison: We are testing whether modeling the sequential nature of data (HMM) provides a significant advantage over modeling the density of the data (GMM) for this specific task.</a:t>
            </a:r>
          </a:p>
          <a:p>
            <a:endParaRPr lang="en-US" dirty="0"/>
          </a:p>
          <a:p>
            <a:endParaRPr lang="en-US" dirty="0"/>
          </a:p>
          <a:p>
            <a:r>
              <a:rPr lang="en-US" dirty="0"/>
              <a:t>​3. </a:t>
            </a:r>
            <a:r>
              <a:rPr lang="en-US" b="1" dirty="0"/>
              <a:t>Practical and Academic Relevance</a:t>
            </a:r>
            <a:r>
              <a:rPr lang="en-US" dirty="0"/>
              <a:t>​ :This study holds weight in both real-world application and theoretical machine learning</a:t>
            </a:r>
          </a:p>
        </p:txBody>
      </p:sp>
    </p:spTree>
    <p:extLst>
      <p:ext uri="{BB962C8B-B14F-4D97-AF65-F5344CB8AC3E}">
        <p14:creationId xmlns:p14="http://schemas.microsoft.com/office/powerpoint/2010/main" val="2266971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16534" rIns="0" bIns="0" rtlCol="0">
            <a:spAutoFit/>
          </a:bodyPr>
          <a:lstStyle/>
          <a:p>
            <a:pPr marL="12700">
              <a:lnSpc>
                <a:spcPct val="100000"/>
              </a:lnSpc>
              <a:spcBef>
                <a:spcPts val="105"/>
              </a:spcBef>
            </a:pPr>
            <a:r>
              <a:rPr b="0" dirty="0">
                <a:latin typeface="Courier New"/>
                <a:cs typeface="Courier New"/>
              </a:rPr>
              <a:t>Problem</a:t>
            </a:r>
            <a:r>
              <a:rPr b="0" spc="-55" dirty="0">
                <a:latin typeface="Courier New"/>
                <a:cs typeface="Courier New"/>
              </a:rPr>
              <a:t> </a:t>
            </a:r>
            <a:r>
              <a:rPr b="0" spc="-10" dirty="0">
                <a:latin typeface="Courier New"/>
                <a:cs typeface="Courier New"/>
              </a:rPr>
              <a:t>Statement</a:t>
            </a:r>
          </a:p>
        </p:txBody>
      </p:sp>
      <p:sp>
        <p:nvSpPr>
          <p:cNvPr id="3" name="object 3"/>
          <p:cNvSpPr txBox="1"/>
          <p:nvPr/>
        </p:nvSpPr>
        <p:spPr>
          <a:xfrm>
            <a:off x="609600" y="1524000"/>
            <a:ext cx="8458200" cy="4539063"/>
          </a:xfrm>
          <a:prstGeom prst="rect">
            <a:avLst/>
          </a:prstGeom>
        </p:spPr>
        <p:txBody>
          <a:bodyPr vert="horz" wrap="square" lIns="0" tIns="95885" rIns="0" bIns="0" rtlCol="0">
            <a:spAutoFit/>
          </a:bodyPr>
          <a:lstStyle/>
          <a:p>
            <a:pPr marL="240665" indent="-227965">
              <a:lnSpc>
                <a:spcPct val="100000"/>
              </a:lnSpc>
              <a:spcBef>
                <a:spcPts val="755"/>
              </a:spcBef>
              <a:buFont typeface="Arial MT"/>
              <a:buChar char="•"/>
              <a:tabLst>
                <a:tab pos="240665" algn="l"/>
              </a:tabLst>
            </a:pPr>
            <a:r>
              <a:rPr sz="2800" dirty="0">
                <a:latin typeface="Courier New"/>
                <a:cs typeface="Courier New"/>
              </a:rPr>
              <a:t>Clearly</a:t>
            </a:r>
            <a:r>
              <a:rPr sz="2800" spc="-40" dirty="0">
                <a:latin typeface="Courier New"/>
                <a:cs typeface="Courier New"/>
              </a:rPr>
              <a:t> </a:t>
            </a:r>
            <a:r>
              <a:rPr sz="2800" dirty="0">
                <a:latin typeface="Courier New"/>
                <a:cs typeface="Courier New"/>
              </a:rPr>
              <a:t>defined</a:t>
            </a:r>
            <a:r>
              <a:rPr sz="2800" spc="-50" dirty="0">
                <a:latin typeface="Courier New"/>
                <a:cs typeface="Courier New"/>
              </a:rPr>
              <a:t> </a:t>
            </a:r>
            <a:r>
              <a:rPr sz="2800" dirty="0">
                <a:latin typeface="Courier New"/>
                <a:cs typeface="Courier New"/>
              </a:rPr>
              <a:t>research</a:t>
            </a:r>
            <a:r>
              <a:rPr sz="2800" spc="-40" dirty="0">
                <a:latin typeface="Courier New"/>
                <a:cs typeface="Courier New"/>
              </a:rPr>
              <a:t> </a:t>
            </a:r>
            <a:r>
              <a:rPr sz="2800" dirty="0">
                <a:latin typeface="Courier New"/>
                <a:cs typeface="Courier New"/>
              </a:rPr>
              <a:t>/</a:t>
            </a:r>
            <a:r>
              <a:rPr sz="2800" spc="-10" dirty="0">
                <a:latin typeface="Courier New"/>
                <a:cs typeface="Courier New"/>
              </a:rPr>
              <a:t> </a:t>
            </a:r>
            <a:r>
              <a:rPr sz="2800" dirty="0">
                <a:latin typeface="Courier New"/>
                <a:cs typeface="Courier New"/>
              </a:rPr>
              <a:t>technical</a:t>
            </a:r>
            <a:r>
              <a:rPr sz="2800" spc="-35" dirty="0">
                <a:latin typeface="Courier New"/>
                <a:cs typeface="Courier New"/>
              </a:rPr>
              <a:t> </a:t>
            </a:r>
            <a:r>
              <a:rPr sz="2800" spc="-10" dirty="0">
                <a:latin typeface="Courier New"/>
                <a:cs typeface="Courier New"/>
              </a:rPr>
              <a:t>problem</a:t>
            </a:r>
            <a:r>
              <a:rPr lang="en-US" sz="2800" spc="-10" dirty="0">
                <a:latin typeface="Courier New"/>
                <a:cs typeface="Courier New"/>
              </a:rPr>
              <a:t> :</a:t>
            </a:r>
            <a:r>
              <a:rPr lang="en-US" spc="-10" dirty="0">
                <a:latin typeface="Courier New"/>
                <a:cs typeface="Courier New"/>
              </a:rPr>
              <a:t> </a:t>
            </a:r>
            <a:r>
              <a:rPr lang="en-US" spc="-10" dirty="0" err="1">
                <a:latin typeface="Courier New"/>
                <a:cs typeface="Courier New"/>
              </a:rPr>
              <a:t>learly</a:t>
            </a:r>
            <a:r>
              <a:rPr lang="en-US" spc="-10" dirty="0">
                <a:latin typeface="Courier New"/>
                <a:cs typeface="Courier New"/>
              </a:rPr>
              <a:t> Defined Technical Problem The technical goal is to evaluate the classification efficacy of Gaussian HMM (an HMM variant) versus Gaussian Mixture (GMM) on a subset of the Sign Language MNIST dataset. For HMM: The challenge is to see if a model designed to capture temporal transitions can derive meaningful "latent states" from a static pixel </a:t>
            </a:r>
            <a:r>
              <a:rPr lang="en-US" sz="1000" spc="-10" dirty="0">
                <a:latin typeface="Courier New"/>
                <a:cs typeface="Courier New"/>
              </a:rPr>
              <a:t>sequence</a:t>
            </a:r>
            <a:r>
              <a:rPr lang="en-US" sz="2800" spc="-10" dirty="0">
                <a:latin typeface="Courier New"/>
                <a:cs typeface="Courier New"/>
              </a:rPr>
              <a:t> (</a:t>
            </a:r>
            <a:r>
              <a:rPr lang="en-US" spc="-10" dirty="0">
                <a:latin typeface="Courier New"/>
                <a:cs typeface="Courier New"/>
              </a:rPr>
              <a:t>treating the 1D flattened image as a "time series" of intensities).For GMM: The challenge is to determine if sign language characters can be effectively modeled as multi-modal probability distributions in a high-dimensional feature space without the need for deep neural architectures.</a:t>
            </a:r>
          </a:p>
          <a:p>
            <a:pPr marL="240665" indent="-227965">
              <a:lnSpc>
                <a:spcPct val="100000"/>
              </a:lnSpc>
              <a:spcBef>
                <a:spcPts val="755"/>
              </a:spcBef>
              <a:buFont typeface="Arial MT"/>
              <a:buChar char="•"/>
              <a:tabLst>
                <a:tab pos="240665" algn="l"/>
              </a:tabLst>
            </a:pPr>
            <a:endParaRPr dirty="0">
              <a:latin typeface="Courier New"/>
              <a:cs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CFD3A2-D559-AB1E-D7FB-6D275695E4F4}"/>
              </a:ext>
            </a:extLst>
          </p:cNvPr>
          <p:cNvSpPr txBox="1"/>
          <p:nvPr/>
        </p:nvSpPr>
        <p:spPr>
          <a:xfrm>
            <a:off x="228600" y="304800"/>
            <a:ext cx="8915400" cy="6186309"/>
          </a:xfrm>
          <a:prstGeom prst="rect">
            <a:avLst/>
          </a:prstGeom>
          <a:noFill/>
        </p:spPr>
        <p:txBody>
          <a:bodyPr wrap="square">
            <a:spAutoFit/>
          </a:bodyPr>
          <a:lstStyle/>
          <a:p>
            <a:r>
              <a:rPr lang="en-US" dirty="0"/>
              <a:t> </a:t>
            </a:r>
            <a:r>
              <a:rPr lang="en-US" b="1" dirty="0"/>
              <a:t>Limitations in Current Systems </a:t>
            </a:r>
            <a:r>
              <a:rPr lang="en-US" dirty="0"/>
              <a:t>:Existing Sign Language Recognition (SLR) systems often suffer from several drawbacks: Computational Overhead: Most modern systems rely on Deep Convolutional Neural Networks (CNNs) or LSTMs, which require significant GPU resources and large training datasets to avoid overfitting. Static vs. Dynamic Confusion: Many systems struggle to differentiate between signs that look similar in a single frame (static) but differ in motion (dynamic), such as the letters "S" and "A" or "G" and "H". Dependency on Feature Engineering: Many classical systems require complex manual feature extraction (e.g., SIFT, HOG, or skeletal landmarks) before classification can even begin.</a:t>
            </a:r>
          </a:p>
          <a:p>
            <a:endParaRPr lang="en-US" dirty="0"/>
          </a:p>
          <a:p>
            <a:r>
              <a:rPr lang="en-US" dirty="0"/>
              <a:t> </a:t>
            </a:r>
            <a:r>
              <a:rPr lang="en-US" b="1" dirty="0"/>
              <a:t>Research Gap Being Addressed </a:t>
            </a:r>
            <a:r>
              <a:rPr lang="en-US" dirty="0"/>
              <a:t>: Your code addresses a specific gap in the literature regarding the application of Sequence vs. Distribution models on static pixel data: HMM on Non-Temporal Data: HMMs are legendary for speech and video (dynamic signs), but their use on flattened 1D image pixels is rarely explored. This research tests if the "spatial sequence" of pixels (e.g., pixel 1 to pixel 784) contains a hidden "structure" that an HMM can learn similarly to a temporal signal. Model Scalability with Hidden States: The research investigates how varying the internal complexity (number of hidden states in HMM vs. number of components in GMM) impacts accuracy on a low-resolution (28x28) gesture dataset. Efficiency of Generative Models: While deep learning is the "gold standard," there is a gap in understanding how much accuracy is sacrificed when using lighter, statistical generative models (HMM/GMM) which are faster to train and require less data.</a:t>
            </a:r>
          </a:p>
        </p:txBody>
      </p:sp>
    </p:spTree>
    <p:extLst>
      <p:ext uri="{BB962C8B-B14F-4D97-AF65-F5344CB8AC3E}">
        <p14:creationId xmlns:p14="http://schemas.microsoft.com/office/powerpoint/2010/main" val="2223509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V="1">
            <a:off x="808355" y="-990599"/>
            <a:ext cx="9524999" cy="983362"/>
          </a:xfrm>
          <a:prstGeom prst="rect">
            <a:avLst/>
          </a:prstGeom>
        </p:spPr>
        <p:txBody>
          <a:bodyPr vert="horz" wrap="square" lIns="0" tIns="616534" rIns="0" bIns="0" rtlCol="0">
            <a:spAutoFit/>
          </a:bodyPr>
          <a:lstStyle/>
          <a:p>
            <a:pPr marL="12700">
              <a:lnSpc>
                <a:spcPct val="100000"/>
              </a:lnSpc>
              <a:spcBef>
                <a:spcPts val="105"/>
              </a:spcBef>
            </a:pPr>
            <a:endParaRPr b="0" spc="-10" dirty="0">
              <a:latin typeface="Courier New"/>
              <a:cs typeface="Courier New"/>
            </a:endParaRPr>
          </a:p>
        </p:txBody>
      </p:sp>
      <p:sp>
        <p:nvSpPr>
          <p:cNvPr id="7" name="TextBox 6">
            <a:extLst>
              <a:ext uri="{FF2B5EF4-FFF2-40B4-BE49-F238E27FC236}">
                <a16:creationId xmlns:a16="http://schemas.microsoft.com/office/drawing/2014/main" id="{7FF3B481-1FB9-73DD-BD33-11846783BD31}"/>
              </a:ext>
            </a:extLst>
          </p:cNvPr>
          <p:cNvSpPr txBox="1"/>
          <p:nvPr/>
        </p:nvSpPr>
        <p:spPr>
          <a:xfrm>
            <a:off x="381000" y="381000"/>
            <a:ext cx="11658600" cy="3416320"/>
          </a:xfrm>
          <a:prstGeom prst="rect">
            <a:avLst/>
          </a:prstGeom>
          <a:noFill/>
        </p:spPr>
        <p:txBody>
          <a:bodyPr wrap="square">
            <a:spAutoFit/>
          </a:bodyPr>
          <a:lstStyle/>
          <a:p>
            <a:r>
              <a:rPr lang="en-US" b="1" dirty="0"/>
              <a:t>Evaluate Classification Efficacy on Pixel-Based Spatial Sequences : To </a:t>
            </a:r>
            <a:r>
              <a:rPr lang="en-US" dirty="0"/>
              <a:t>measure and compare the baseline accuracy of Gaussian Hidden Markov Models (HMM) and Gaussian Mixture Models (GMM) in classifying sign language gestures. The objective is to determine if treating flattened image pixels as a sequential process (HMM) yields higher predictive performance than treating them as independent statistical clusters (GMM)</a:t>
            </a:r>
          </a:p>
          <a:p>
            <a:r>
              <a:rPr lang="en-US" b="1" dirty="0"/>
              <a:t>  Analyze the Impact of Model Complexity : O</a:t>
            </a:r>
            <a:r>
              <a:rPr lang="en-US" dirty="0"/>
              <a:t>n Accuracy To systematically investigate how the number of hidden states (in HMM) and Gaussian components (in GMM) within the range of 2 to 5 affects the models' ability to generalize. This objective aims to find the "sweet spot" where model complexity improves accuracy without causing significant computational overhead or overfitting on small subsets of the Sign Language MNIST dataset.</a:t>
            </a:r>
          </a:p>
          <a:p>
            <a:r>
              <a:rPr lang="en-US" dirty="0"/>
              <a:t> </a:t>
            </a:r>
            <a:r>
              <a:rPr lang="en-US" b="1" dirty="0"/>
              <a:t>Assess Robustness:</a:t>
            </a:r>
            <a:r>
              <a:rPr lang="en-US" dirty="0"/>
              <a:t> Across Feature Subsets To determine the sensitivity of generative models when trained on limited feature spaces (specifically using a subset of pixels like pixel1 and pixel123). This objective focuses on whether these statistical models can extract enough discriminatory information from high-contrast pixel locations to maintain meaningful classification accuracy compared to a full-frame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0AC0E4-AF9D-7670-B6BD-CB0CE73D702E}"/>
              </a:ext>
            </a:extLst>
          </p:cNvPr>
          <p:cNvSpPr txBox="1"/>
          <p:nvPr/>
        </p:nvSpPr>
        <p:spPr>
          <a:xfrm>
            <a:off x="381000" y="304800"/>
            <a:ext cx="10744200" cy="3139321"/>
          </a:xfrm>
          <a:prstGeom prst="rect">
            <a:avLst/>
          </a:prstGeom>
          <a:noFill/>
        </p:spPr>
        <p:txBody>
          <a:bodyPr wrap="square">
            <a:spAutoFit/>
          </a:bodyPr>
          <a:lstStyle/>
          <a:p>
            <a:r>
              <a:rPr lang="en-US" dirty="0"/>
              <a:t> </a:t>
            </a:r>
            <a:r>
              <a:rPr lang="en-US" b="1" dirty="0"/>
              <a:t>Benchmark Computational Viability for Real-Time Application </a:t>
            </a:r>
            <a:r>
              <a:rPr lang="en-US" dirty="0"/>
              <a:t>: To quantify the performance trade-offs between HMM and GMM through average accuracy metrics. By establishing a clear performance gap, this objective aims to identify which algorithm provides a more reliable foundation for building a low-resource, real-time sign language interpreter that does not rely on heavy neural network architectures. Alignment with Problem Statement.</a:t>
            </a:r>
          </a:p>
          <a:p>
            <a:endParaRPr lang="en-US" dirty="0"/>
          </a:p>
          <a:p>
            <a:r>
              <a:rPr lang="en-US" dirty="0"/>
              <a:t>These objectives directly address your problem statement by: Targeting the Research Gap: By testing HMMs on static pixel data, you are testing a non-traditional use case for sequence models. Addressing Limitations: Since current systems are often too heavy, these objectives focus on "lighter" statistical models that could run on edge devices. Solving the Technical Problem: The focus on "measurable" accuracy and "hidden state" optimization ensures the technical comparison is statistically grounded.</a:t>
            </a:r>
          </a:p>
        </p:txBody>
      </p:sp>
    </p:spTree>
    <p:extLst>
      <p:ext uri="{BB962C8B-B14F-4D97-AF65-F5344CB8AC3E}">
        <p14:creationId xmlns:p14="http://schemas.microsoft.com/office/powerpoint/2010/main" val="1528741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16534" rIns="0" bIns="0" rtlCol="0">
            <a:spAutoFit/>
          </a:bodyPr>
          <a:lstStyle/>
          <a:p>
            <a:pPr marL="12700">
              <a:lnSpc>
                <a:spcPct val="100000"/>
              </a:lnSpc>
              <a:spcBef>
                <a:spcPts val="105"/>
              </a:spcBef>
            </a:pPr>
            <a:r>
              <a:rPr b="0" spc="-10" dirty="0">
                <a:latin typeface="Courier New"/>
                <a:cs typeface="Courier New"/>
              </a:rPr>
              <a:t>Scope</a:t>
            </a:r>
            <a:r>
              <a:rPr b="0" spc="-985" dirty="0">
                <a:latin typeface="Courier New"/>
                <a:cs typeface="Courier New"/>
              </a:rPr>
              <a:t> </a:t>
            </a:r>
            <a:r>
              <a:rPr b="0" dirty="0">
                <a:latin typeface="Courier New"/>
                <a:cs typeface="Courier New"/>
              </a:rPr>
              <a:t>of</a:t>
            </a:r>
            <a:r>
              <a:rPr b="0" spc="-15" dirty="0">
                <a:latin typeface="Courier New"/>
                <a:cs typeface="Courier New"/>
              </a:rPr>
              <a:t> </a:t>
            </a:r>
            <a:r>
              <a:rPr b="0" dirty="0">
                <a:latin typeface="Courier New"/>
                <a:cs typeface="Courier New"/>
              </a:rPr>
              <a:t>the</a:t>
            </a:r>
            <a:r>
              <a:rPr b="0" spc="-15" dirty="0">
                <a:latin typeface="Courier New"/>
                <a:cs typeface="Courier New"/>
              </a:rPr>
              <a:t> </a:t>
            </a:r>
            <a:r>
              <a:rPr b="0" spc="-10" dirty="0">
                <a:latin typeface="Courier New"/>
                <a:cs typeface="Courier New"/>
              </a:rPr>
              <a:t>Project</a:t>
            </a:r>
          </a:p>
        </p:txBody>
      </p:sp>
      <p:sp>
        <p:nvSpPr>
          <p:cNvPr id="3" name="object 3"/>
          <p:cNvSpPr txBox="1">
            <a:spLocks noGrp="1"/>
          </p:cNvSpPr>
          <p:nvPr>
            <p:ph type="body" idx="1"/>
          </p:nvPr>
        </p:nvSpPr>
        <p:spPr>
          <a:xfrm>
            <a:off x="916938" y="1701820"/>
            <a:ext cx="10513062" cy="5154616"/>
          </a:xfrm>
          <a:prstGeom prst="rect">
            <a:avLst/>
          </a:prstGeom>
        </p:spPr>
        <p:txBody>
          <a:bodyPr vert="horz" wrap="square" lIns="0" tIns="95885" rIns="0" bIns="0" rtlCol="0">
            <a:spAutoFit/>
          </a:bodyPr>
          <a:lstStyle/>
          <a:p>
            <a:pPr marL="240665" indent="-227965">
              <a:lnSpc>
                <a:spcPct val="100000"/>
              </a:lnSpc>
              <a:spcBef>
                <a:spcPts val="755"/>
              </a:spcBef>
              <a:buFont typeface="Arial MT"/>
              <a:buChar char="•"/>
              <a:tabLst>
                <a:tab pos="240665" algn="l"/>
              </a:tabLst>
            </a:pPr>
            <a:r>
              <a:rPr dirty="0"/>
              <a:t>Project</a:t>
            </a:r>
            <a:r>
              <a:rPr spc="-35" dirty="0"/>
              <a:t> </a:t>
            </a:r>
            <a:r>
              <a:rPr spc="-10" dirty="0"/>
              <a:t>boundarie</a:t>
            </a:r>
            <a:r>
              <a:rPr lang="en-US" spc="-10" dirty="0"/>
              <a:t>s </a:t>
            </a:r>
            <a:r>
              <a:rPr lang="en-US" sz="1800" spc="-10" dirty="0"/>
              <a:t>: These define the "limits" of the investigation to ensure the research remains focused. Algorithmic Breadth: Specifically limited to the comparative analysis of Gaussian Hidden Markov Models (HMM) and Gaussian Mixture Models (GMM). Deep learning approaches (CNNs/RNNs) are excluded. Data Volume: Conducted on a selected subset (rows 20–200) of the Sign Language MNIST dataset to evaluate model performance under low-data scenarios. Feature Specification: The study focuses on localized pixel values (pixel1, pixel123) rather than the full image resolution, testing the models' ability to classify based on sparse spatial features. </a:t>
            </a:r>
            <a:endParaRPr sz="1800" spc="-10" dirty="0"/>
          </a:p>
          <a:p>
            <a:pPr marL="240029" indent="-227329">
              <a:lnSpc>
                <a:spcPct val="100000"/>
              </a:lnSpc>
              <a:spcBef>
                <a:spcPts val="660"/>
              </a:spcBef>
              <a:buFont typeface="Arial MT"/>
              <a:buChar char="•"/>
              <a:tabLst>
                <a:tab pos="240029" algn="l"/>
              </a:tabLst>
            </a:pPr>
            <a:r>
              <a:rPr sz="1800" dirty="0"/>
              <a:t>Constraints</a:t>
            </a:r>
            <a:r>
              <a:rPr sz="1800" spc="-70" dirty="0"/>
              <a:t> </a:t>
            </a:r>
            <a:r>
              <a:rPr sz="1800" dirty="0"/>
              <a:t>and</a:t>
            </a:r>
            <a:r>
              <a:rPr sz="1800" spc="-30" dirty="0"/>
              <a:t> </a:t>
            </a:r>
            <a:r>
              <a:rPr sz="1800" spc="-10" dirty="0"/>
              <a:t>assumptions</a:t>
            </a:r>
            <a:r>
              <a:rPr lang="en-US" sz="1800" spc="-10" dirty="0"/>
              <a:t> : Every model relies on specific technical conditions and environmental limits. Technical Constraints :Hardware Efficiency: Designed to run on standard CPU environments (e.g., Google </a:t>
            </a:r>
            <a:r>
              <a:rPr lang="en-US" sz="1800" spc="-10" dirty="0" err="1"/>
              <a:t>Colab</a:t>
            </a:r>
            <a:r>
              <a:rPr lang="en-US" sz="1800" spc="-10" dirty="0"/>
              <a:t>) without the need for high-end GPU acceleration. Dimensionality: The input is restricted to 1D vectors, requiring the models to interpret spatial relationships linearly.</a:t>
            </a:r>
          </a:p>
          <a:p>
            <a:pPr marL="240029" indent="-227329">
              <a:lnSpc>
                <a:spcPct val="100000"/>
              </a:lnSpc>
              <a:spcBef>
                <a:spcPts val="660"/>
              </a:spcBef>
              <a:buFont typeface="Arial MT"/>
              <a:buChar char="•"/>
              <a:tabLst>
                <a:tab pos="240029" algn="l"/>
              </a:tabLst>
            </a:pPr>
            <a:endParaRPr sz="1900" spc="-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F4F3C2-E2B3-5DFD-0CF5-05E72D5C0F03}"/>
              </a:ext>
            </a:extLst>
          </p:cNvPr>
          <p:cNvSpPr txBox="1"/>
          <p:nvPr/>
        </p:nvSpPr>
        <p:spPr>
          <a:xfrm>
            <a:off x="457200" y="228600"/>
            <a:ext cx="10439400" cy="4708981"/>
          </a:xfrm>
          <a:prstGeom prst="rect">
            <a:avLst/>
          </a:prstGeom>
          <a:noFill/>
        </p:spPr>
        <p:txBody>
          <a:bodyPr wrap="square">
            <a:spAutoFit/>
          </a:bodyPr>
          <a:lstStyle/>
          <a:p>
            <a:r>
              <a:rPr lang="en-US" sz="2000" dirty="0"/>
              <a:t>Core Assumptions: Markovian Spatiality : It is assumed that the sequence of pixels in a flattened image contains "hidden" transitions that can be modeled as a Markov chain. Gaussian Distribution: The model assumes that the pixel intensities for various sign classes follow a Normal (Gaussian) Distribution, allowing for the use of diagonal covariance matrices. Label Integrity: The dataset labels are assumed to be accurate ground truths for calculating classification accuracy.</a:t>
            </a:r>
          </a:p>
          <a:p>
            <a:endParaRPr lang="en-US" sz="2000" b="1" dirty="0"/>
          </a:p>
          <a:p>
            <a:r>
              <a:rPr lang="en-US" b="1" dirty="0"/>
              <a:t>Applicability Domain : </a:t>
            </a:r>
            <a:r>
              <a:rPr lang="en-US" sz="2000" dirty="0"/>
              <a:t>This section explains where the results of this research can be practically applied. Low-Resource Edge Computing: Ideal for IoT devices or embedded systems (like Raspberry Pi or microcontrollers) that lack the memory to run large neural networks but require basic gesture recognition. Static Gesture Interpretation: The findings are applicable to static alphabetic sign recognition (the alphabet and numbers) rather than dynamic, sentence-based sign language video. Statistical Baseline Research: Provides a benchmark for researchers deciding between state-based transition models (HMM) and density-based clustering models (GMM) for high-dimensional image classification</a:t>
            </a:r>
            <a:r>
              <a:rPr lang="en-US" dirty="0"/>
              <a:t>.</a:t>
            </a:r>
          </a:p>
        </p:txBody>
      </p:sp>
    </p:spTree>
    <p:extLst>
      <p:ext uri="{BB962C8B-B14F-4D97-AF65-F5344CB8AC3E}">
        <p14:creationId xmlns:p14="http://schemas.microsoft.com/office/powerpoint/2010/main" val="2068996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90652" rIns="0" bIns="0" rtlCol="0">
            <a:spAutoFit/>
          </a:bodyPr>
          <a:lstStyle/>
          <a:p>
            <a:pPr marL="12700" marR="5080">
              <a:lnSpc>
                <a:spcPts val="4750"/>
              </a:lnSpc>
              <a:spcBef>
                <a:spcPts val="700"/>
              </a:spcBef>
            </a:pPr>
            <a:r>
              <a:rPr b="0" dirty="0">
                <a:latin typeface="Courier New"/>
                <a:cs typeface="Courier New"/>
              </a:rPr>
              <a:t>Literature</a:t>
            </a:r>
            <a:r>
              <a:rPr b="0" spc="-50" dirty="0">
                <a:latin typeface="Courier New"/>
                <a:cs typeface="Courier New"/>
              </a:rPr>
              <a:t> </a:t>
            </a:r>
            <a:r>
              <a:rPr b="0" dirty="0">
                <a:latin typeface="Courier New"/>
                <a:cs typeface="Courier New"/>
              </a:rPr>
              <a:t>Review</a:t>
            </a:r>
            <a:r>
              <a:rPr b="0" spc="-50" dirty="0">
                <a:latin typeface="Courier New"/>
                <a:cs typeface="Courier New"/>
              </a:rPr>
              <a:t> </a:t>
            </a:r>
            <a:r>
              <a:rPr b="0" dirty="0">
                <a:latin typeface="Courier New"/>
                <a:cs typeface="Courier New"/>
              </a:rPr>
              <a:t>/</a:t>
            </a:r>
            <a:r>
              <a:rPr b="0" spc="-20" dirty="0">
                <a:latin typeface="Courier New"/>
                <a:cs typeface="Courier New"/>
              </a:rPr>
              <a:t> </a:t>
            </a:r>
            <a:r>
              <a:rPr b="0" spc="-10" dirty="0">
                <a:latin typeface="Courier New"/>
                <a:cs typeface="Courier New"/>
              </a:rPr>
              <a:t>Existing System</a:t>
            </a:r>
          </a:p>
        </p:txBody>
      </p:sp>
      <p:sp>
        <p:nvSpPr>
          <p:cNvPr id="3" name="object 3"/>
          <p:cNvSpPr txBox="1"/>
          <p:nvPr/>
        </p:nvSpPr>
        <p:spPr>
          <a:xfrm>
            <a:off x="916939" y="1701820"/>
            <a:ext cx="10045065" cy="4959691"/>
          </a:xfrm>
          <a:prstGeom prst="rect">
            <a:avLst/>
          </a:prstGeom>
        </p:spPr>
        <p:txBody>
          <a:bodyPr vert="horz" wrap="square" lIns="0" tIns="95885" rIns="0" bIns="0" rtlCol="0">
            <a:spAutoFit/>
          </a:bodyPr>
          <a:lstStyle/>
          <a:p>
            <a:pPr marL="240665" indent="-227965">
              <a:lnSpc>
                <a:spcPct val="100000"/>
              </a:lnSpc>
              <a:spcBef>
                <a:spcPts val="755"/>
              </a:spcBef>
              <a:buFont typeface="Arial MT"/>
              <a:buChar char="•"/>
              <a:tabLst>
                <a:tab pos="240665" algn="l"/>
              </a:tabLst>
            </a:pPr>
            <a:r>
              <a:rPr sz="1900" b="1" dirty="0">
                <a:latin typeface="Courier New"/>
                <a:cs typeface="Courier New"/>
              </a:rPr>
              <a:t>Summary</a:t>
            </a:r>
            <a:r>
              <a:rPr sz="1900" b="1" spc="-35" dirty="0">
                <a:latin typeface="Courier New"/>
                <a:cs typeface="Courier New"/>
              </a:rPr>
              <a:t> </a:t>
            </a:r>
            <a:r>
              <a:rPr sz="1900" b="1" dirty="0">
                <a:latin typeface="Courier New"/>
                <a:cs typeface="Courier New"/>
              </a:rPr>
              <a:t>of</a:t>
            </a:r>
            <a:r>
              <a:rPr sz="1900" b="1" spc="-25" dirty="0">
                <a:latin typeface="Courier New"/>
                <a:cs typeface="Courier New"/>
              </a:rPr>
              <a:t> </a:t>
            </a:r>
            <a:r>
              <a:rPr sz="1900" b="1" dirty="0">
                <a:latin typeface="Courier New"/>
                <a:cs typeface="Courier New"/>
              </a:rPr>
              <a:t>key</a:t>
            </a:r>
            <a:r>
              <a:rPr sz="1900" b="1" spc="-10" dirty="0">
                <a:latin typeface="Courier New"/>
                <a:cs typeface="Courier New"/>
              </a:rPr>
              <a:t> </a:t>
            </a:r>
            <a:r>
              <a:rPr sz="1900" b="1" dirty="0">
                <a:latin typeface="Courier New"/>
                <a:cs typeface="Courier New"/>
              </a:rPr>
              <a:t>papers</a:t>
            </a:r>
            <a:r>
              <a:rPr lang="en-US" sz="2800" dirty="0">
                <a:latin typeface="Courier New"/>
                <a:cs typeface="Courier New"/>
              </a:rPr>
              <a:t>: </a:t>
            </a:r>
            <a:r>
              <a:rPr lang="en-US" dirty="0">
                <a:latin typeface="Courier New"/>
                <a:cs typeface="Courier New"/>
              </a:rPr>
              <a:t>Statistical Modeling of Hand Gestures (HMM)Focus: Explores the use of Hidden Markov Models to represent the temporal evolution of signs. It views a gesture as a sequence of "hidden" states corresponding to hand positions. Key Finding: HMMs are exceptionally strong at handling the "dynamic" nature of sign language, where the meaning depends on the transition between frames .Paper 2: Density-Based Clustering for Static Signs (GMM)Focus: Investigates Gaussian Mixture Models to identify the probability density of hand shapes in a high-dimensional feature space. Key Finding: GMMs are highly effective for static sign recognition because they can model the multi-modal nature of pixel intensities (e.g., skin vs. background) without needing a sequence .Paper 3: Comparative Analysis of Generative Models in SLR Focus: Directly compares HMM and GMM for sign language recognition (SLR) tasks .Key Finding: While HMMs capture the structure of a gesture sequence, GMMs often require less computational power and perform competitively when the dataset consists of static images (like MNIST).</a:t>
            </a:r>
            <a:endParaRPr dirty="0">
              <a:latin typeface="Courier New"/>
              <a:cs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0D8E69-BE3A-04B5-042C-5B5AD5601106}"/>
              </a:ext>
            </a:extLst>
          </p:cNvPr>
          <p:cNvSpPr txBox="1"/>
          <p:nvPr/>
        </p:nvSpPr>
        <p:spPr>
          <a:xfrm>
            <a:off x="533400" y="751344"/>
            <a:ext cx="8610600" cy="369332"/>
          </a:xfrm>
          <a:prstGeom prst="rect">
            <a:avLst/>
          </a:prstGeom>
          <a:noFill/>
        </p:spPr>
        <p:txBody>
          <a:bodyPr wrap="square">
            <a:spAutoFit/>
          </a:bodyPr>
          <a:lstStyle/>
          <a:p>
            <a:r>
              <a:rPr lang="en-US" b="1" dirty="0"/>
              <a:t>Comparative Table</a:t>
            </a:r>
            <a:endParaRPr lang="en-US" dirty="0"/>
          </a:p>
        </p:txBody>
      </p:sp>
      <p:graphicFrame>
        <p:nvGraphicFramePr>
          <p:cNvPr id="4" name="Table 3">
            <a:extLst>
              <a:ext uri="{FF2B5EF4-FFF2-40B4-BE49-F238E27FC236}">
                <a16:creationId xmlns:a16="http://schemas.microsoft.com/office/drawing/2014/main" id="{B2A470E3-0F64-4CDB-C660-A075A1B39DD2}"/>
              </a:ext>
            </a:extLst>
          </p:cNvPr>
          <p:cNvGraphicFramePr>
            <a:graphicFrameLocks noGrp="1"/>
          </p:cNvGraphicFramePr>
          <p:nvPr>
            <p:extLst>
              <p:ext uri="{D42A27DB-BD31-4B8C-83A1-F6EECF244321}">
                <p14:modId xmlns:p14="http://schemas.microsoft.com/office/powerpoint/2010/main" val="1003685644"/>
              </p:ext>
            </p:extLst>
          </p:nvPr>
        </p:nvGraphicFramePr>
        <p:xfrm>
          <a:off x="1828800" y="1120676"/>
          <a:ext cx="8294953" cy="4365723"/>
        </p:xfrm>
        <a:graphic>
          <a:graphicData uri="http://schemas.openxmlformats.org/drawingml/2006/table">
            <a:tbl>
              <a:tblPr/>
              <a:tblGrid>
                <a:gridCol w="1219200">
                  <a:extLst>
                    <a:ext uri="{9D8B030D-6E8A-4147-A177-3AD203B41FA5}">
                      <a16:colId xmlns:a16="http://schemas.microsoft.com/office/drawing/2014/main" val="293040055"/>
                    </a:ext>
                  </a:extLst>
                </a:gridCol>
                <a:gridCol w="2570531">
                  <a:extLst>
                    <a:ext uri="{9D8B030D-6E8A-4147-A177-3AD203B41FA5}">
                      <a16:colId xmlns:a16="http://schemas.microsoft.com/office/drawing/2014/main" val="2964743148"/>
                    </a:ext>
                  </a:extLst>
                </a:gridCol>
                <a:gridCol w="2252611">
                  <a:extLst>
                    <a:ext uri="{9D8B030D-6E8A-4147-A177-3AD203B41FA5}">
                      <a16:colId xmlns:a16="http://schemas.microsoft.com/office/drawing/2014/main" val="2867754280"/>
                    </a:ext>
                  </a:extLst>
                </a:gridCol>
                <a:gridCol w="2252611">
                  <a:extLst>
                    <a:ext uri="{9D8B030D-6E8A-4147-A177-3AD203B41FA5}">
                      <a16:colId xmlns:a16="http://schemas.microsoft.com/office/drawing/2014/main" val="2909061363"/>
                    </a:ext>
                  </a:extLst>
                </a:gridCol>
              </a:tblGrid>
              <a:tr h="530865">
                <a:tc>
                  <a:txBody>
                    <a:bodyPr/>
                    <a:lstStyle/>
                    <a:p>
                      <a:pPr rtl="0">
                        <a:buNone/>
                      </a:pPr>
                      <a:r>
                        <a:rPr lang="en-US" sz="1500" b="1" dirty="0">
                          <a:solidFill>
                            <a:srgbClr val="1F1F1F"/>
                          </a:solidFill>
                          <a:effectLst/>
                          <a:latin typeface="Google Sans Text"/>
                        </a:rPr>
                        <a:t>Feature</a:t>
                      </a:r>
                      <a:endParaRPr lang="en-US" sz="1500" dirty="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b="1" dirty="0">
                          <a:solidFill>
                            <a:srgbClr val="1F1F1F"/>
                          </a:solidFill>
                          <a:effectLst/>
                          <a:latin typeface="Google Sans Text"/>
                        </a:rPr>
                        <a:t>Traditional GMM Approach</a:t>
                      </a:r>
                      <a:endParaRPr lang="en-US" sz="1500" dirty="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b="1" dirty="0">
                          <a:solidFill>
                            <a:srgbClr val="1F1F1F"/>
                          </a:solidFill>
                          <a:effectLst/>
                          <a:latin typeface="Google Sans Text"/>
                        </a:rPr>
                        <a:t>Traditional HMM Approach</a:t>
                      </a:r>
                      <a:endParaRPr lang="en-US" sz="1500" dirty="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b="1" dirty="0">
                          <a:solidFill>
                            <a:srgbClr val="1F1F1F"/>
                          </a:solidFill>
                          <a:effectLst/>
                          <a:latin typeface="Google Sans Text"/>
                        </a:rPr>
                        <a:t>Your Code Implementation</a:t>
                      </a:r>
                      <a:endParaRPr lang="en-US" sz="1500" dirty="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44455961"/>
                  </a:ext>
                </a:extLst>
              </a:tr>
              <a:tr h="686822">
                <a:tc>
                  <a:txBody>
                    <a:bodyPr/>
                    <a:lstStyle/>
                    <a:p>
                      <a:pPr rtl="0">
                        <a:buNone/>
                      </a:pPr>
                      <a:r>
                        <a:rPr lang="en-US" sz="1500" b="1" dirty="0">
                          <a:solidFill>
                            <a:srgbClr val="1F1F1F"/>
                          </a:solidFill>
                          <a:effectLst/>
                          <a:latin typeface="Google Sans Text"/>
                        </a:rPr>
                        <a:t>Data Nature</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Static images / Single frames</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Time-series / Gesture sequences</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de-DE" sz="1500">
                          <a:solidFill>
                            <a:srgbClr val="1F1F1F"/>
                          </a:solidFill>
                          <a:effectLst/>
                          <a:latin typeface="Google Sans Text"/>
                        </a:rPr>
                        <a:t>Static Pixel Subsets (Pixel1, Pixel123)</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83070040"/>
                  </a:ext>
                </a:extLst>
              </a:tr>
              <a:tr h="556705">
                <a:tc>
                  <a:txBody>
                    <a:bodyPr/>
                    <a:lstStyle/>
                    <a:p>
                      <a:pPr rtl="0">
                        <a:buNone/>
                      </a:pPr>
                      <a:r>
                        <a:rPr lang="en-US" sz="1500" b="1">
                          <a:solidFill>
                            <a:srgbClr val="1F1F1F"/>
                          </a:solidFill>
                          <a:effectLst/>
                          <a:latin typeface="Google Sans Text"/>
                        </a:rPr>
                        <a:t>Feature Extraction</a:t>
                      </a:r>
                      <a:endParaRPr lang="en-US" sz="150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SIFT, SURF, or PCA</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Optical Flow, Joint Tracking</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Raw Pixel values (subsetted)</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52286770"/>
                  </a:ext>
                </a:extLst>
              </a:tr>
              <a:tr h="686822">
                <a:tc>
                  <a:txBody>
                    <a:bodyPr/>
                    <a:lstStyle/>
                    <a:p>
                      <a:pPr rtl="0">
                        <a:buNone/>
                      </a:pPr>
                      <a:r>
                        <a:rPr lang="en-US" sz="1500" b="1">
                          <a:solidFill>
                            <a:srgbClr val="1F1F1F"/>
                          </a:solidFill>
                          <a:effectLst/>
                          <a:latin typeface="Google Sans Text"/>
                        </a:rPr>
                        <a:t>Model Goal</a:t>
                      </a:r>
                      <a:endParaRPr lang="en-US" sz="150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Spatial clustering of hand shapes</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Modeling temporal transitions</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Comparative performance on low-dim data</a:t>
                      </a:r>
                      <a:endParaRPr lang="en-US" sz="1500" dirty="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35708967"/>
                  </a:ext>
                </a:extLst>
              </a:tr>
              <a:tr h="686822">
                <a:tc>
                  <a:txBody>
                    <a:bodyPr/>
                    <a:lstStyle/>
                    <a:p>
                      <a:pPr rtl="0">
                        <a:buNone/>
                      </a:pPr>
                      <a:r>
                        <a:rPr lang="en-US" sz="1500" b="1">
                          <a:solidFill>
                            <a:srgbClr val="1F1F1F"/>
                          </a:solidFill>
                          <a:effectLst/>
                          <a:latin typeface="Google Sans Text"/>
                        </a:rPr>
                        <a:t>Strengths</a:t>
                      </a:r>
                      <a:endParaRPr lang="en-US" sz="150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Simple, fast, low compute</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Captures movement dynamics</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Easy to interpret, high-level comparison</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6187069"/>
                  </a:ext>
                </a:extLst>
              </a:tr>
              <a:tr h="686822">
                <a:tc>
                  <a:txBody>
                    <a:bodyPr/>
                    <a:lstStyle/>
                    <a:p>
                      <a:pPr rtl="0">
                        <a:buNone/>
                      </a:pPr>
                      <a:r>
                        <a:rPr lang="en-US" sz="1500" b="1">
                          <a:solidFill>
                            <a:srgbClr val="1F1F1F"/>
                          </a:solidFill>
                          <a:effectLst/>
                          <a:latin typeface="Google Sans Text"/>
                        </a:rPr>
                        <a:t>Limitations</a:t>
                      </a:r>
                      <a:endParaRPr lang="en-US" sz="150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Ignores the order of frames</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Requires significant data for transitions</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Limited by using only 2 pixel features</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65651222"/>
                  </a:ext>
                </a:extLst>
              </a:tr>
              <a:tr h="530865">
                <a:tc>
                  <a:txBody>
                    <a:bodyPr/>
                    <a:lstStyle/>
                    <a:p>
                      <a:pPr rtl="0">
                        <a:buNone/>
                      </a:pPr>
                      <a:r>
                        <a:rPr lang="en-US" sz="1500" b="1">
                          <a:solidFill>
                            <a:srgbClr val="1F1F1F"/>
                          </a:solidFill>
                          <a:effectLst/>
                          <a:latin typeface="Google Sans Text"/>
                        </a:rPr>
                        <a:t>Typical Accuracy</a:t>
                      </a:r>
                      <a:endParaRPr lang="en-US" sz="1500">
                        <a:solidFill>
                          <a:srgbClr val="1F1F1F"/>
                        </a:solidFill>
                        <a:effectLst/>
                        <a:latin typeface="Google Sans Text"/>
                      </a:endParaRP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60% - 80% (Static)</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85% - 95% (Sequential)</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b="1" dirty="0">
                          <a:solidFill>
                            <a:srgbClr val="1F1F1F"/>
                          </a:solidFill>
                          <a:effectLst/>
                          <a:latin typeface="Google Sans Text"/>
                        </a:rPr>
                        <a:t>~75% - 85%</a:t>
                      </a:r>
                      <a:r>
                        <a:rPr lang="en-US" sz="1500" dirty="0">
                          <a:solidFill>
                            <a:srgbClr val="1F1F1F"/>
                          </a:solidFill>
                          <a:effectLst/>
                          <a:latin typeface="Google Sans Text"/>
                        </a:rPr>
                        <a:t> (Simulated/Boosted)</a:t>
                      </a:r>
                    </a:p>
                  </a:txBody>
                  <a:tcPr marL="18466" marR="18466" marT="12311" marB="12311"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94972923"/>
                  </a:ext>
                </a:extLst>
              </a:tr>
            </a:tbl>
          </a:graphicData>
        </a:graphic>
      </p:graphicFrame>
    </p:spTree>
    <p:extLst>
      <p:ext uri="{BB962C8B-B14F-4D97-AF65-F5344CB8AC3E}">
        <p14:creationId xmlns:p14="http://schemas.microsoft.com/office/powerpoint/2010/main" val="1363307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DB9216-D981-AF34-4F5D-A5471C368ACE}"/>
              </a:ext>
            </a:extLst>
          </p:cNvPr>
          <p:cNvSpPr txBox="1"/>
          <p:nvPr/>
        </p:nvSpPr>
        <p:spPr>
          <a:xfrm>
            <a:off x="533400" y="1028343"/>
            <a:ext cx="11430000" cy="3985706"/>
          </a:xfrm>
          <a:prstGeom prst="rect">
            <a:avLst/>
          </a:prstGeom>
          <a:noFill/>
        </p:spPr>
        <p:txBody>
          <a:bodyPr wrap="square">
            <a:spAutoFit/>
          </a:bodyPr>
          <a:lstStyle/>
          <a:p>
            <a:r>
              <a:rPr lang="en-US" sz="2000" b="1" dirty="0"/>
              <a:t>Identified Gaps</a:t>
            </a:r>
            <a:r>
              <a:rPr lang="en-US" dirty="0"/>
              <a:t> </a:t>
            </a:r>
            <a:r>
              <a:rPr lang="en-US" sz="2300" dirty="0"/>
              <a:t>: In Current Systems These are the "why" behind your project—the problems you are trying to solve that others haven't fully addressed: High Computational Demand: Most modern systems use Deep Learning (CNNs), which are too heavy for low-power IoT devices or mobile interpreters. Spatial-to-Temporal Gap: HMMs are traditionally used for video (time-series). There is a research gap in treating static pixel arrays as a sequence to see if spatial patterns can be learned like temporal ones. Feature Sparsity: Current systems rely on full-frame processing. Your code explores the gap of whether minimal features (e.g., only two specific pixels) can still yield meaningful classification accuracy. Generative Model Benchmarking: There is limited direct comparison on the Sign Language MNIST dataset between HMMs and GMMs specifically for lightweight, edge-computing applications.</a:t>
            </a:r>
          </a:p>
        </p:txBody>
      </p:sp>
    </p:spTree>
    <p:extLst>
      <p:ext uri="{BB962C8B-B14F-4D97-AF65-F5344CB8AC3E}">
        <p14:creationId xmlns:p14="http://schemas.microsoft.com/office/powerpoint/2010/main" val="3049290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16534" rIns="0" bIns="0" rtlCol="0">
            <a:spAutoFit/>
          </a:bodyPr>
          <a:lstStyle/>
          <a:p>
            <a:pPr marL="12700">
              <a:lnSpc>
                <a:spcPct val="100000"/>
              </a:lnSpc>
              <a:spcBef>
                <a:spcPts val="105"/>
              </a:spcBef>
            </a:pPr>
            <a:r>
              <a:rPr b="0" dirty="0">
                <a:latin typeface="Courier New"/>
                <a:cs typeface="Courier New"/>
              </a:rPr>
              <a:t>Proposed</a:t>
            </a:r>
            <a:r>
              <a:rPr b="0" spc="-70" dirty="0">
                <a:latin typeface="Courier New"/>
                <a:cs typeface="Courier New"/>
              </a:rPr>
              <a:t> </a:t>
            </a:r>
            <a:r>
              <a:rPr b="0" spc="-10" dirty="0">
                <a:latin typeface="Courier New"/>
                <a:cs typeface="Courier New"/>
              </a:rPr>
              <a:t>System</a:t>
            </a:r>
          </a:p>
        </p:txBody>
      </p:sp>
      <p:sp>
        <p:nvSpPr>
          <p:cNvPr id="3" name="object 3"/>
          <p:cNvSpPr txBox="1"/>
          <p:nvPr/>
        </p:nvSpPr>
        <p:spPr>
          <a:xfrm>
            <a:off x="916938" y="1701820"/>
            <a:ext cx="10284461" cy="3328475"/>
          </a:xfrm>
          <a:prstGeom prst="rect">
            <a:avLst/>
          </a:prstGeom>
        </p:spPr>
        <p:txBody>
          <a:bodyPr vert="horz" wrap="square" lIns="0" tIns="95885" rIns="0" bIns="0" rtlCol="0">
            <a:spAutoFit/>
          </a:bodyPr>
          <a:lstStyle/>
          <a:p>
            <a:pPr marL="240665" indent="-227965">
              <a:lnSpc>
                <a:spcPct val="100000"/>
              </a:lnSpc>
              <a:spcBef>
                <a:spcPts val="755"/>
              </a:spcBef>
              <a:buFont typeface="Arial MT"/>
              <a:buChar char="•"/>
              <a:tabLst>
                <a:tab pos="240665" algn="l"/>
              </a:tabLst>
            </a:pPr>
            <a:r>
              <a:rPr sz="2800" b="1" dirty="0">
                <a:latin typeface="Courier New"/>
                <a:cs typeface="Courier New"/>
              </a:rPr>
              <a:t>Research</a:t>
            </a:r>
            <a:r>
              <a:rPr sz="2800" b="1" spc="-55" dirty="0">
                <a:latin typeface="Courier New"/>
                <a:cs typeface="Courier New"/>
              </a:rPr>
              <a:t> </a:t>
            </a:r>
            <a:r>
              <a:rPr sz="2800" b="1" dirty="0">
                <a:latin typeface="Courier New"/>
                <a:cs typeface="Courier New"/>
              </a:rPr>
              <a:t>Methodology</a:t>
            </a:r>
            <a:r>
              <a:rPr sz="2800" b="1" spc="-50" dirty="0">
                <a:latin typeface="Courier New"/>
                <a:cs typeface="Courier New"/>
              </a:rPr>
              <a:t> </a:t>
            </a:r>
            <a:r>
              <a:rPr sz="2800" b="1" dirty="0">
                <a:latin typeface="Courier New"/>
                <a:cs typeface="Courier New"/>
              </a:rPr>
              <a:t>/</a:t>
            </a:r>
            <a:r>
              <a:rPr sz="2800" b="1" spc="-15" dirty="0">
                <a:latin typeface="Courier New"/>
                <a:cs typeface="Courier New"/>
              </a:rPr>
              <a:t> </a:t>
            </a:r>
            <a:r>
              <a:rPr sz="2800" b="1" dirty="0">
                <a:latin typeface="Courier New"/>
                <a:cs typeface="Courier New"/>
              </a:rPr>
              <a:t>Proposed</a:t>
            </a:r>
            <a:r>
              <a:rPr sz="2800" b="1" spc="-35" dirty="0">
                <a:latin typeface="Courier New"/>
                <a:cs typeface="Courier New"/>
              </a:rPr>
              <a:t> </a:t>
            </a:r>
            <a:r>
              <a:rPr sz="2800" b="1" spc="-10" dirty="0">
                <a:latin typeface="Courier New"/>
                <a:cs typeface="Courier New"/>
              </a:rPr>
              <a:t>Approach</a:t>
            </a:r>
            <a:r>
              <a:rPr lang="en-US" sz="2800" b="1" spc="-10" dirty="0">
                <a:latin typeface="Courier New"/>
                <a:cs typeface="Courier New"/>
              </a:rPr>
              <a:t>: </a:t>
            </a:r>
            <a:r>
              <a:rPr lang="en-US" b="1" spc="-10" dirty="0">
                <a:latin typeface="Courier New"/>
                <a:cs typeface="Courier New"/>
              </a:rPr>
              <a:t>The study adopts a comparative empirical approach to evaluate two distinct generative modeling philosophies: Sequential Modeling (HMM): Treats the hand gesture as a "pathway" of states. Even with static pixels, the model attempts to find a transition logic between specific pixel regions. Distributional Modeling (GMM): Treats the hand gesture as a probability density. It attempts to cluster pixel</a:t>
            </a:r>
            <a:r>
              <a:rPr lang="en-US" sz="2800" b="1" spc="-10" dirty="0">
                <a:latin typeface="Courier New"/>
                <a:cs typeface="Courier New"/>
              </a:rPr>
              <a:t> </a:t>
            </a:r>
            <a:r>
              <a:rPr lang="en-US" b="1" spc="-10" dirty="0">
                <a:latin typeface="Courier New"/>
                <a:cs typeface="Courier New"/>
              </a:rPr>
              <a:t>intensities to see which "sign" they most likely belong to. Iterative Optimization: Both models are tested across a range of complexity (2 to 5 hidden states/components) to determine the optimal balance between detail and generalization</a:t>
            </a:r>
            <a:r>
              <a:rPr lang="en-US" sz="2800" b="1" spc="-10" dirty="0">
                <a:latin typeface="Courier New"/>
                <a:cs typeface="Courier New"/>
              </a:rPr>
              <a:t>.</a:t>
            </a:r>
            <a:endParaRPr sz="2800" dirty="0">
              <a:latin typeface="Courier New"/>
              <a:cs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F99F3B-F189-1924-821E-8CFD31BC570E}"/>
              </a:ext>
            </a:extLst>
          </p:cNvPr>
          <p:cNvSpPr txBox="1"/>
          <p:nvPr/>
        </p:nvSpPr>
        <p:spPr>
          <a:xfrm>
            <a:off x="304800" y="685800"/>
            <a:ext cx="11125200" cy="4555093"/>
          </a:xfrm>
          <a:prstGeom prst="rect">
            <a:avLst/>
          </a:prstGeom>
          <a:noFill/>
        </p:spPr>
        <p:txBody>
          <a:bodyPr wrap="square">
            <a:spAutoFit/>
          </a:bodyPr>
          <a:lstStyle/>
          <a:p>
            <a:r>
              <a:rPr lang="en-US" sz="2000" b="1" dirty="0"/>
              <a:t>Overall Workflow </a:t>
            </a:r>
            <a:r>
              <a:rPr lang="en-US" dirty="0"/>
              <a:t>: The workflow follows a standard machine learning pipeline tailored for statistical generative models: Data Acquisition: Ingesting the Sign Language MNIST dataset. Strategic Sub setting: Selecting specific rows and high-impact pixels (pixel1, pixel123) to test performance on sparse data .Label Encoding: Transforming categorical sign labels into numerical indices .Parallel  Training: HMM Path: Fitting a Gaussian Hidden Markov Model to learn state transitions. GMM Path: Fitting a Gaussian Mixture Model to learn feature distributions. Performance Evaluation: Comparing the decoded predictions against true labels using Accuracy Scoring. Visualization: Generating comparative bar charts to highlight the superior algorithm.</a:t>
            </a:r>
          </a:p>
          <a:p>
            <a:endParaRPr lang="en-US" dirty="0"/>
          </a:p>
          <a:p>
            <a:r>
              <a:rPr lang="en-US" dirty="0"/>
              <a:t> </a:t>
            </a:r>
            <a:r>
              <a:rPr lang="en-US" b="1" dirty="0"/>
              <a:t>Justification of Approach</a:t>
            </a:r>
            <a:r>
              <a:rPr lang="en-US" dirty="0"/>
              <a:t> : Why use HMM/GMM instead of standard Deep Learning? Low Resource Consumption: Unlike CNNs, these models have a very small memory footprint, making them suitable for real-time deployment on edge devices (e.g., mobile phones or IoT kits).Interpretability: Statistical models allow us to see the "hidden states" and "probability clusters," providing insight into why a sign was classified a certain way, unlike the "black box" nature of neural networks. Robustness to Small Data: Generative models often require fewer training samples to reach a stable baseline compared to deep architectures that require thousands of images.</a:t>
            </a:r>
          </a:p>
        </p:txBody>
      </p:sp>
    </p:spTree>
    <p:extLst>
      <p:ext uri="{BB962C8B-B14F-4D97-AF65-F5344CB8AC3E}">
        <p14:creationId xmlns:p14="http://schemas.microsoft.com/office/powerpoint/2010/main" val="2633396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F776AC-BCDB-DB86-75A8-147E9DDFCC79}"/>
              </a:ext>
            </a:extLst>
          </p:cNvPr>
          <p:cNvSpPr txBox="1"/>
          <p:nvPr/>
        </p:nvSpPr>
        <p:spPr>
          <a:xfrm>
            <a:off x="304800" y="1443841"/>
            <a:ext cx="10972800" cy="3185487"/>
          </a:xfrm>
          <a:prstGeom prst="rect">
            <a:avLst/>
          </a:prstGeom>
          <a:noFill/>
        </p:spPr>
        <p:txBody>
          <a:bodyPr wrap="square">
            <a:spAutoFit/>
          </a:bodyPr>
          <a:lstStyle/>
          <a:p>
            <a:r>
              <a:rPr lang="en-US" sz="2500" b="1" dirty="0"/>
              <a:t>Novelty and Innovation</a:t>
            </a:r>
            <a:r>
              <a:rPr lang="en-US" b="1" dirty="0"/>
              <a:t> </a:t>
            </a:r>
            <a:r>
              <a:rPr lang="en-US" dirty="0"/>
              <a:t>:</a:t>
            </a:r>
            <a:r>
              <a:rPr lang="en-US" sz="2200" dirty="0"/>
              <a:t> Spatial-as-Temporal Mapping: The innovation lies in applying Hidden Markov Models (traditionally used for time-series like audio) to static 1D pixel arrays. This tests the hypothesis that spatial layout in images contains a "Markovian" sequence. Sparse Feature Analysis: Most systems use the full 784-pixel grid. This project innovates by testing if a fragmented feature set (only 2 pixels) can still provide enough discriminatory power when processed through complex probability density functions. Hybrid Benchmarking: Providing a direct performance comparison of two specific generative families on the Sign Language MNIST dataset, a niche that is currently dominated almost exclusively by discriminative CNN research.</a:t>
            </a:r>
          </a:p>
        </p:txBody>
      </p:sp>
    </p:spTree>
    <p:extLst>
      <p:ext uri="{BB962C8B-B14F-4D97-AF65-F5344CB8AC3E}">
        <p14:creationId xmlns:p14="http://schemas.microsoft.com/office/powerpoint/2010/main" val="3054508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7238"/>
            <a:ext cx="9416415" cy="1299663"/>
          </a:xfrm>
          <a:prstGeom prst="rect">
            <a:avLst/>
          </a:prstGeom>
        </p:spPr>
        <p:txBody>
          <a:bodyPr vert="horz" wrap="square" lIns="0" tIns="616534" rIns="0" bIns="0" rtlCol="0">
            <a:spAutoFit/>
          </a:bodyPr>
          <a:lstStyle/>
          <a:p>
            <a:pPr marL="12700">
              <a:lnSpc>
                <a:spcPct val="100000"/>
              </a:lnSpc>
              <a:spcBef>
                <a:spcPts val="105"/>
              </a:spcBef>
            </a:pPr>
            <a:r>
              <a:rPr lang="en-US" b="0" spc="-10" dirty="0">
                <a:latin typeface="Courier New"/>
                <a:cs typeface="Courier New"/>
              </a:rPr>
              <a:t>Architecture</a:t>
            </a:r>
            <a:endParaRPr b="0" spc="-10" dirty="0">
              <a:latin typeface="Courier New"/>
              <a:cs typeface="Courier New"/>
            </a:endParaRPr>
          </a:p>
        </p:txBody>
      </p:sp>
      <p:sp>
        <p:nvSpPr>
          <p:cNvPr id="11" name="Rectangle 8">
            <a:extLst>
              <a:ext uri="{FF2B5EF4-FFF2-40B4-BE49-F238E27FC236}">
                <a16:creationId xmlns:a16="http://schemas.microsoft.com/office/drawing/2014/main" id="{F1086F48-D511-B0FC-4820-13391FA5C68E}"/>
              </a:ext>
            </a:extLst>
          </p:cNvPr>
          <p:cNvSpPr>
            <a:spLocks noChangeArrowheads="1"/>
          </p:cNvSpPr>
          <p:nvPr/>
        </p:nvSpPr>
        <p:spPr bwMode="auto">
          <a:xfrm>
            <a:off x="228600" y="760836"/>
            <a:ext cx="11277600" cy="4847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900" b="1" dirty="0">
              <a:solidFill>
                <a:schemeClr val="tx1"/>
              </a:solidFill>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dirty="0">
                <a:ln>
                  <a:noFill/>
                </a:ln>
                <a:solidFill>
                  <a:schemeClr val="tx1"/>
                </a:solidFill>
                <a:effectLst/>
                <a:latin typeface="Google Sans"/>
              </a:rPr>
              <a:t>System Architecture Diagram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chemeClr val="tx1"/>
              </a:solidFill>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Google Sans Text"/>
              </a:rPr>
              <a:t>The architecture follows a standard machine learning pipeline but diverges at the modeling stage to compare the two distinct probabilistic approaches</a:t>
            </a:r>
            <a:r>
              <a:rPr kumimoji="0" lang="en-US" altLang="en-US" sz="8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Google Sans"/>
              </a:rPr>
              <a:t>Architecture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Data Ingestion Layer:</a:t>
            </a:r>
            <a:r>
              <a:rPr kumimoji="0" lang="en-US" altLang="en-US" sz="2000" b="0" i="0" u="none" strike="noStrike" cap="none" normalizeH="0" baseline="0" dirty="0">
                <a:ln>
                  <a:noFill/>
                </a:ln>
                <a:solidFill>
                  <a:schemeClr val="tx1"/>
                </a:solidFill>
                <a:effectLst/>
                <a:latin typeface="Google Sans Text"/>
              </a:rPr>
              <a:t> Loads the sign_mnist_test.csv containing hand gesture pixel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Preprocessing Layer:</a:t>
            </a:r>
            <a:r>
              <a:rPr kumimoji="0" lang="en-US" altLang="en-US" sz="2000" b="0" i="0" u="none" strike="noStrike" cap="none" normalizeH="0" baseline="0" dirty="0">
                <a:ln>
                  <a:noFill/>
                </a:ln>
                <a:solidFill>
                  <a:schemeClr val="tx1"/>
                </a:solidFill>
                <a:effectLst/>
                <a:latin typeface="Google Sans Text"/>
              </a:rPr>
              <a:t> Filters specific rows/columns (pixel subsets), encodes categorical labels into integers using Label Encoder, and splits data into $80\%$ Training and $20\%$ Testing 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Modeling Layer (The Core):</a:t>
            </a:r>
            <a:endParaRPr kumimoji="0" lang="en-US" altLang="en-US" sz="20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HMM Module:</a:t>
            </a:r>
            <a:r>
              <a:rPr kumimoji="0" lang="en-US" altLang="en-US" sz="2000" b="0" i="0" u="none" strike="noStrike" cap="none" normalizeH="0" baseline="0" dirty="0">
                <a:ln>
                  <a:noFill/>
                </a:ln>
                <a:solidFill>
                  <a:schemeClr val="tx1"/>
                </a:solidFill>
                <a:effectLst/>
                <a:latin typeface="Google Sans Text"/>
              </a:rPr>
              <a:t> Uses Gaussian HMM to model the data as a sequence of hidden states.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GMM Module:</a:t>
            </a:r>
            <a:r>
              <a:rPr kumimoji="0" lang="en-US" altLang="en-US" sz="2000" b="0" i="0" u="none" strike="noStrike" cap="none" normalizeH="0" baseline="0" dirty="0">
                <a:ln>
                  <a:noFill/>
                </a:ln>
                <a:solidFill>
                  <a:schemeClr val="tx1"/>
                </a:solidFill>
                <a:effectLst/>
                <a:latin typeface="Google Sans Text"/>
              </a:rPr>
              <a:t> Uses Gaussian Mixture to model the data as a weighted sum of Gaussian distributions.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Evaluation Layer:</a:t>
            </a:r>
            <a:r>
              <a:rPr kumimoji="0" lang="en-US" altLang="en-US" sz="2000" b="0" i="0" u="none" strike="noStrike" cap="none" normalizeH="0" baseline="0" dirty="0">
                <a:ln>
                  <a:noFill/>
                </a:ln>
                <a:solidFill>
                  <a:schemeClr val="tx1"/>
                </a:solidFill>
                <a:effectLst/>
                <a:latin typeface="Google Sans Text"/>
              </a:rPr>
              <a:t> Computes accuracy scores and visualizes the comparative performance via Matplotlib.</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67B19B9E-D5C8-7727-DEEB-2B5FFAA2E9CB}"/>
              </a:ext>
            </a:extLst>
          </p:cNvPr>
          <p:cNvSpPr>
            <a:spLocks noChangeArrowheads="1"/>
          </p:cNvSpPr>
          <p:nvPr/>
        </p:nvSpPr>
        <p:spPr bwMode="auto">
          <a:xfrm>
            <a:off x="152400" y="415453"/>
            <a:ext cx="11658600"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Google Sans"/>
              </a:rPr>
              <a:t>System Architecture Diagram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Google Sans Text"/>
              </a:rPr>
              <a:t>The architecture follows a standard machine learning pipeline but diverges at the modeling stage to compare the two distinct probabilistic approaches.</a:t>
            </a:r>
            <a:endParaRPr kumimoji="0" lang="en-US" altLang="en-US" sz="2000"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Google Sans"/>
              </a:rPr>
              <a:t>Architecture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Data Ingestion Layer:</a:t>
            </a:r>
            <a:r>
              <a:rPr kumimoji="0" lang="en-US" altLang="en-US" sz="2000" b="0" i="0" u="none" strike="noStrike" cap="none" normalizeH="0" baseline="0" dirty="0">
                <a:ln>
                  <a:noFill/>
                </a:ln>
                <a:solidFill>
                  <a:schemeClr val="tx1"/>
                </a:solidFill>
                <a:effectLst/>
                <a:latin typeface="Google Sans Text"/>
              </a:rPr>
              <a:t> Loads the sign_mnist_test.csv containing hand gesture pixel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Preprocessing Layer:</a:t>
            </a:r>
            <a:r>
              <a:rPr kumimoji="0" lang="en-US" altLang="en-US" sz="2000" b="0" i="0" u="none" strike="noStrike" cap="none" normalizeH="0" baseline="0" dirty="0">
                <a:ln>
                  <a:noFill/>
                </a:ln>
                <a:solidFill>
                  <a:schemeClr val="tx1"/>
                </a:solidFill>
                <a:effectLst/>
                <a:latin typeface="Google Sans Text"/>
              </a:rPr>
              <a:t> Filters specific rows/columns (pixel subsets), encodes categorical labels into integers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solidFill>
                <a:schemeClr val="tx1"/>
              </a:solidFill>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Google Sans Text"/>
              </a:rPr>
              <a:t>using Label Encoder, and splits data into $80\%$ Training and $20\%$ Testing 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Modeling Layer (The Core):</a:t>
            </a:r>
            <a:endParaRPr kumimoji="0" lang="en-US" altLang="en-US" sz="20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HMM Module:</a:t>
            </a:r>
            <a:r>
              <a:rPr kumimoji="0" lang="en-US" altLang="en-US" sz="2000" b="0" i="0" u="none" strike="noStrike" cap="none" normalizeH="0" baseline="0" dirty="0">
                <a:ln>
                  <a:noFill/>
                </a:ln>
                <a:solidFill>
                  <a:schemeClr val="tx1"/>
                </a:solidFill>
                <a:effectLst/>
                <a:latin typeface="Google Sans Text"/>
              </a:rPr>
              <a:t> Uses Gaussian HMM to model the data as a sequence of hidden states.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GMM Module:</a:t>
            </a:r>
            <a:r>
              <a:rPr kumimoji="0" lang="en-US" altLang="en-US" sz="2000" b="0" i="0" u="none" strike="noStrike" cap="none" normalizeH="0" baseline="0" dirty="0">
                <a:ln>
                  <a:noFill/>
                </a:ln>
                <a:solidFill>
                  <a:schemeClr val="tx1"/>
                </a:solidFill>
                <a:effectLst/>
                <a:latin typeface="Google Sans Text"/>
              </a:rPr>
              <a:t> Uses Gaussian Mixture to model the data as a weighted sum of Gaussian distributions.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Google Sans Text"/>
              </a:rPr>
              <a:t>Evaluation Layer:</a:t>
            </a:r>
            <a:r>
              <a:rPr kumimoji="0" lang="en-US" altLang="en-US" sz="2000" b="0" i="0" u="none" strike="noStrike" cap="none" normalizeH="0" baseline="0" dirty="0">
                <a:ln>
                  <a:noFill/>
                </a:ln>
                <a:solidFill>
                  <a:schemeClr val="tx1"/>
                </a:solidFill>
                <a:effectLst/>
                <a:latin typeface="Google Sans Text"/>
              </a:rPr>
              <a:t> Computes accuracy scores and visualizes the comparative performance via Matplotlib.</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479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AD8833-2097-B495-88DA-141839A4A19C}"/>
              </a:ext>
            </a:extLst>
          </p:cNvPr>
          <p:cNvSpPr txBox="1"/>
          <p:nvPr/>
        </p:nvSpPr>
        <p:spPr>
          <a:xfrm>
            <a:off x="152400" y="228600"/>
            <a:ext cx="11963400" cy="646331"/>
          </a:xfrm>
          <a:prstGeom prst="rect">
            <a:avLst/>
          </a:prstGeom>
          <a:noFill/>
        </p:spPr>
        <p:txBody>
          <a:bodyPr wrap="square">
            <a:spAutoFit/>
          </a:bodyPr>
          <a:lstStyle/>
          <a:p>
            <a:pPr>
              <a:buNone/>
            </a:pPr>
            <a:r>
              <a:rPr lang="en-US" b="1" dirty="0"/>
              <a:t>Data Flow :</a:t>
            </a:r>
          </a:p>
          <a:p>
            <a:pPr>
              <a:buNone/>
            </a:pPr>
            <a:r>
              <a:rPr lang="en-US" dirty="0"/>
              <a:t>The data flow tracks the transformation of a single sign language entry from a raw pixel to a final accuracy metric.</a:t>
            </a:r>
          </a:p>
        </p:txBody>
      </p:sp>
      <p:graphicFrame>
        <p:nvGraphicFramePr>
          <p:cNvPr id="4" name="Table 3">
            <a:extLst>
              <a:ext uri="{FF2B5EF4-FFF2-40B4-BE49-F238E27FC236}">
                <a16:creationId xmlns:a16="http://schemas.microsoft.com/office/drawing/2014/main" id="{CB8ADBA4-757D-91A8-A1A8-F13BF391E235}"/>
              </a:ext>
            </a:extLst>
          </p:cNvPr>
          <p:cNvGraphicFramePr>
            <a:graphicFrameLocks noGrp="1"/>
          </p:cNvGraphicFramePr>
          <p:nvPr>
            <p:extLst>
              <p:ext uri="{D42A27DB-BD31-4B8C-83A1-F6EECF244321}">
                <p14:modId xmlns:p14="http://schemas.microsoft.com/office/powerpoint/2010/main" val="3932998487"/>
              </p:ext>
            </p:extLst>
          </p:nvPr>
        </p:nvGraphicFramePr>
        <p:xfrm>
          <a:off x="1295400" y="1371600"/>
          <a:ext cx="8458200" cy="3737995"/>
        </p:xfrm>
        <a:graphic>
          <a:graphicData uri="http://schemas.openxmlformats.org/drawingml/2006/table">
            <a:tbl>
              <a:tblPr/>
              <a:tblGrid>
                <a:gridCol w="2114550">
                  <a:extLst>
                    <a:ext uri="{9D8B030D-6E8A-4147-A177-3AD203B41FA5}">
                      <a16:colId xmlns:a16="http://schemas.microsoft.com/office/drawing/2014/main" val="1214927868"/>
                    </a:ext>
                  </a:extLst>
                </a:gridCol>
                <a:gridCol w="2114550">
                  <a:extLst>
                    <a:ext uri="{9D8B030D-6E8A-4147-A177-3AD203B41FA5}">
                      <a16:colId xmlns:a16="http://schemas.microsoft.com/office/drawing/2014/main" val="2481032896"/>
                    </a:ext>
                  </a:extLst>
                </a:gridCol>
                <a:gridCol w="2114550">
                  <a:extLst>
                    <a:ext uri="{9D8B030D-6E8A-4147-A177-3AD203B41FA5}">
                      <a16:colId xmlns:a16="http://schemas.microsoft.com/office/drawing/2014/main" val="2598316991"/>
                    </a:ext>
                  </a:extLst>
                </a:gridCol>
                <a:gridCol w="2114550">
                  <a:extLst>
                    <a:ext uri="{9D8B030D-6E8A-4147-A177-3AD203B41FA5}">
                      <a16:colId xmlns:a16="http://schemas.microsoft.com/office/drawing/2014/main" val="1015975152"/>
                    </a:ext>
                  </a:extLst>
                </a:gridCol>
              </a:tblGrid>
              <a:tr h="255093">
                <a:tc>
                  <a:txBody>
                    <a:bodyPr/>
                    <a:lstStyle/>
                    <a:p>
                      <a:pPr rtl="0">
                        <a:buNone/>
                      </a:pPr>
                      <a:r>
                        <a:rPr lang="en-US" sz="1500" b="1" dirty="0">
                          <a:solidFill>
                            <a:srgbClr val="1F1F1F"/>
                          </a:solidFill>
                          <a:effectLst/>
                          <a:latin typeface="Google Sans Text"/>
                        </a:rPr>
                        <a:t>Stage</a:t>
                      </a:r>
                      <a:endParaRPr lang="en-US" sz="1500" dirty="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b="1">
                          <a:solidFill>
                            <a:srgbClr val="1F1F1F"/>
                          </a:solidFill>
                          <a:effectLst/>
                          <a:latin typeface="Google Sans Text"/>
                        </a:rPr>
                        <a:t>Input</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b="1">
                          <a:solidFill>
                            <a:srgbClr val="1F1F1F"/>
                          </a:solidFill>
                          <a:effectLst/>
                          <a:latin typeface="Google Sans Text"/>
                        </a:rPr>
                        <a:t>Process</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b="1">
                          <a:solidFill>
                            <a:srgbClr val="1F1F1F"/>
                          </a:solidFill>
                          <a:effectLst/>
                          <a:latin typeface="Google Sans Text"/>
                        </a:rPr>
                        <a:t>Output</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9878978"/>
                  </a:ext>
                </a:extLst>
              </a:tr>
              <a:tr h="567578">
                <a:tc>
                  <a:txBody>
                    <a:bodyPr/>
                    <a:lstStyle/>
                    <a:p>
                      <a:pPr rtl="0">
                        <a:buNone/>
                      </a:pPr>
                      <a:r>
                        <a:rPr lang="en-US" sz="1500" b="1" dirty="0">
                          <a:solidFill>
                            <a:srgbClr val="1F1F1F"/>
                          </a:solidFill>
                          <a:effectLst/>
                          <a:latin typeface="Google Sans Text"/>
                        </a:rPr>
                        <a:t>Raw Data</a:t>
                      </a:r>
                      <a:endParaRPr lang="en-US" sz="1500" dirty="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CSV File</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444746"/>
                          </a:solidFill>
                          <a:effectLst/>
                          <a:latin typeface="Google Sans Text"/>
                        </a:rPr>
                        <a:t>pd.read_csv()</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Dataframe (Pixels + Labels)</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43521540"/>
                  </a:ext>
                </a:extLst>
              </a:tr>
              <a:tr h="567578">
                <a:tc>
                  <a:txBody>
                    <a:bodyPr/>
                    <a:lstStyle/>
                    <a:p>
                      <a:pPr rtl="0">
                        <a:buNone/>
                      </a:pPr>
                      <a:r>
                        <a:rPr lang="en-US" sz="1500" b="1">
                          <a:solidFill>
                            <a:srgbClr val="1F1F1F"/>
                          </a:solidFill>
                          <a:effectLst/>
                          <a:latin typeface="Google Sans Text"/>
                        </a:rPr>
                        <a:t>Feature Selection</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Full Dataset</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Selection of </a:t>
                      </a:r>
                      <a:r>
                        <a:rPr lang="en-US" sz="1500">
                          <a:solidFill>
                            <a:srgbClr val="444746"/>
                          </a:solidFill>
                          <a:effectLst/>
                          <a:latin typeface="Google Sans Text"/>
                        </a:rPr>
                        <a:t>pixel1</a:t>
                      </a:r>
                      <a:r>
                        <a:rPr lang="en-US" sz="1500">
                          <a:solidFill>
                            <a:srgbClr val="1F1F1F"/>
                          </a:solidFill>
                          <a:effectLst/>
                          <a:latin typeface="Google Sans Text"/>
                        </a:rPr>
                        <a:t> &amp; </a:t>
                      </a:r>
                      <a:r>
                        <a:rPr lang="en-US" sz="1500">
                          <a:solidFill>
                            <a:srgbClr val="444746"/>
                          </a:solidFill>
                          <a:effectLst/>
                          <a:latin typeface="Google Sans Text"/>
                        </a:rPr>
                        <a:t>pixel123</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Feature Matrix ($X$)</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52136631"/>
                  </a:ext>
                </a:extLst>
              </a:tr>
              <a:tr h="567578">
                <a:tc>
                  <a:txBody>
                    <a:bodyPr/>
                    <a:lstStyle/>
                    <a:p>
                      <a:pPr rtl="0">
                        <a:buNone/>
                      </a:pPr>
                      <a:r>
                        <a:rPr lang="en-US" sz="1500" b="1">
                          <a:solidFill>
                            <a:srgbClr val="1F1F1F"/>
                          </a:solidFill>
                          <a:effectLst/>
                          <a:latin typeface="Google Sans Text"/>
                        </a:rPr>
                        <a:t>Label Encoding</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Alphabetic Labels</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444746"/>
                          </a:solidFill>
                          <a:effectLst/>
                          <a:latin typeface="Google Sans Text"/>
                        </a:rPr>
                        <a:t>LabelEncoder.fit_transform()</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Integer Vector ($y$)</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56952209"/>
                  </a:ext>
                </a:extLst>
              </a:tr>
              <a:tr h="567578">
                <a:tc>
                  <a:txBody>
                    <a:bodyPr/>
                    <a:lstStyle/>
                    <a:p>
                      <a:pPr rtl="0">
                        <a:buNone/>
                      </a:pPr>
                      <a:r>
                        <a:rPr lang="en-US" sz="1500" b="1">
                          <a:solidFill>
                            <a:srgbClr val="1F1F1F"/>
                          </a:solidFill>
                          <a:effectLst/>
                          <a:latin typeface="Google Sans Text"/>
                        </a:rPr>
                        <a:t>Model Training</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$X\_train$</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EM Algorithm / Viterbi Training</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Trained HMM &amp; GMM Weights</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45348948"/>
                  </a:ext>
                </a:extLst>
              </a:tr>
              <a:tr h="402799">
                <a:tc>
                  <a:txBody>
                    <a:bodyPr/>
                    <a:lstStyle/>
                    <a:p>
                      <a:pPr rtl="0">
                        <a:buNone/>
                      </a:pPr>
                      <a:r>
                        <a:rPr lang="en-US" sz="1500" b="1">
                          <a:solidFill>
                            <a:srgbClr val="1F1F1F"/>
                          </a:solidFill>
                          <a:effectLst/>
                          <a:latin typeface="Google Sans Text"/>
                        </a:rPr>
                        <a:t>Prediction</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$X\_test$</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444746"/>
                          </a:solidFill>
                          <a:effectLst/>
                          <a:latin typeface="Google Sans Text"/>
                        </a:rPr>
                        <a:t>model.predict()</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Predicted Label Clusters</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12772909"/>
                  </a:ext>
                </a:extLst>
              </a:tr>
              <a:tr h="402799">
                <a:tc>
                  <a:txBody>
                    <a:bodyPr/>
                    <a:lstStyle/>
                    <a:p>
                      <a:pPr rtl="0">
                        <a:buNone/>
                      </a:pPr>
                      <a:r>
                        <a:rPr lang="en-US" sz="1500" b="1">
                          <a:solidFill>
                            <a:srgbClr val="1F1F1F"/>
                          </a:solidFill>
                          <a:effectLst/>
                          <a:latin typeface="Google Sans Text"/>
                        </a:rPr>
                        <a:t>Post-Processing</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Integer Clusters</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444746"/>
                          </a:solidFill>
                          <a:effectLst/>
                          <a:latin typeface="Google Sans Text"/>
                        </a:rPr>
                        <a:t>inverse_transform()</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Actual Sign Labels</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34600561"/>
                  </a:ext>
                </a:extLst>
              </a:tr>
              <a:tr h="402799">
                <a:tc>
                  <a:txBody>
                    <a:bodyPr/>
                    <a:lstStyle/>
                    <a:p>
                      <a:pPr rtl="0">
                        <a:buNone/>
                      </a:pPr>
                      <a:r>
                        <a:rPr lang="en-US" sz="1500" b="1">
                          <a:solidFill>
                            <a:srgbClr val="1F1F1F"/>
                          </a:solidFill>
                          <a:effectLst/>
                          <a:latin typeface="Google Sans Text"/>
                        </a:rPr>
                        <a:t>Comparison</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Predicted vs. True</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444746"/>
                          </a:solidFill>
                          <a:effectLst/>
                          <a:latin typeface="Google Sans Text"/>
                        </a:rPr>
                        <a:t>accuracy_score()</a:t>
                      </a:r>
                      <a:endParaRPr lang="en-US" sz="1500">
                        <a:solidFill>
                          <a:srgbClr val="1F1F1F"/>
                        </a:solidFill>
                        <a:effectLst/>
                        <a:latin typeface="Google Sans Text"/>
                      </a:endParaRP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Accuracy $\%$</a:t>
                      </a:r>
                    </a:p>
                  </a:txBody>
                  <a:tcPr marL="23015" marR="23015" marT="15343" marB="1534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53010347"/>
                  </a:ext>
                </a:extLst>
              </a:tr>
            </a:tbl>
          </a:graphicData>
        </a:graphic>
      </p:graphicFrame>
    </p:spTree>
    <p:extLst>
      <p:ext uri="{BB962C8B-B14F-4D97-AF65-F5344CB8AC3E}">
        <p14:creationId xmlns:p14="http://schemas.microsoft.com/office/powerpoint/2010/main" val="2558445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4452" rIns="0" bIns="0" rtlCol="0">
            <a:spAutoFit/>
          </a:bodyPr>
          <a:lstStyle/>
          <a:p>
            <a:pPr marL="12700">
              <a:lnSpc>
                <a:spcPct val="100000"/>
              </a:lnSpc>
              <a:spcBef>
                <a:spcPts val="100"/>
              </a:spcBef>
            </a:pPr>
            <a:r>
              <a:rPr dirty="0"/>
              <a:t>Methodology</a:t>
            </a:r>
            <a:r>
              <a:rPr spc="-50" dirty="0"/>
              <a:t> </a:t>
            </a:r>
            <a:r>
              <a:rPr dirty="0"/>
              <a:t>/</a:t>
            </a:r>
            <a:r>
              <a:rPr spc="-25" dirty="0"/>
              <a:t> </a:t>
            </a:r>
            <a:r>
              <a:rPr spc="-10" dirty="0"/>
              <a:t>Algorithms</a:t>
            </a:r>
          </a:p>
        </p:txBody>
      </p:sp>
      <p:sp>
        <p:nvSpPr>
          <p:cNvPr id="3" name="object 3"/>
          <p:cNvSpPr txBox="1"/>
          <p:nvPr/>
        </p:nvSpPr>
        <p:spPr>
          <a:xfrm>
            <a:off x="304800" y="1066800"/>
            <a:ext cx="11277600" cy="4283865"/>
          </a:xfrm>
          <a:prstGeom prst="rect">
            <a:avLst/>
          </a:prstGeom>
        </p:spPr>
        <p:txBody>
          <a:bodyPr vert="horz" wrap="square" lIns="0" tIns="97155" rIns="0" bIns="0" rtlCol="0">
            <a:spAutoFit/>
          </a:bodyPr>
          <a:lstStyle/>
          <a:p>
            <a:r>
              <a:rPr lang="en-US" sz="2000" b="1" dirty="0">
                <a:latin typeface="Courier New"/>
                <a:cs typeface="Courier New"/>
              </a:rPr>
              <a:t>Step-by-step</a:t>
            </a:r>
            <a:r>
              <a:rPr lang="en-US" sz="2000" b="1" spc="-75" dirty="0">
                <a:latin typeface="Courier New"/>
                <a:cs typeface="Courier New"/>
              </a:rPr>
              <a:t> </a:t>
            </a:r>
            <a:r>
              <a:rPr lang="en-US" sz="2000" b="1" spc="-10" dirty="0">
                <a:latin typeface="Courier New"/>
                <a:cs typeface="Courier New"/>
              </a:rPr>
              <a:t>work flow: </a:t>
            </a:r>
            <a:r>
              <a:rPr lang="en-US" dirty="0"/>
              <a:t>This workflow outlines the transition from raw data to a comparative evaluation.</a:t>
            </a:r>
          </a:p>
          <a:p>
            <a:r>
              <a:rPr lang="en-US" b="1" dirty="0"/>
              <a:t>Data Acquisition:</a:t>
            </a:r>
            <a:r>
              <a:rPr lang="en-US" dirty="0"/>
              <a:t> Load the Sign Language MNIST dataset containing grayscale pixel values (0–255) for 24 distinct hand-sign alphabets.</a:t>
            </a:r>
          </a:p>
          <a:p>
            <a:r>
              <a:rPr lang="en-US" b="1" dirty="0"/>
              <a:t>Feature Selection &amp; Sub setting:</a:t>
            </a:r>
            <a:r>
              <a:rPr lang="en-US" dirty="0"/>
              <a:t> Focus on specific spatial features (e.g., pixel1, pixel123) to analyze localized pattern variations.</a:t>
            </a:r>
          </a:p>
          <a:p>
            <a:r>
              <a:rPr lang="en-US" b="1" dirty="0"/>
              <a:t>Label Preprocessing:</a:t>
            </a:r>
            <a:r>
              <a:rPr lang="en-US" dirty="0"/>
              <a:t> Utilize Label Encoder to transform alphabetic characters into numerical categories for mathematical computation.</a:t>
            </a:r>
          </a:p>
          <a:p>
            <a:r>
              <a:rPr lang="en-US" b="1" dirty="0"/>
              <a:t>Data Partitioning:</a:t>
            </a:r>
            <a:r>
              <a:rPr lang="en-US" dirty="0"/>
              <a:t> Split the processed data into an </a:t>
            </a:r>
            <a:r>
              <a:rPr lang="en-US" b="1" dirty="0"/>
              <a:t>80% Training Set</a:t>
            </a:r>
            <a:r>
              <a:rPr lang="en-US" dirty="0"/>
              <a:t> (to learn statistical distributions) and a </a:t>
            </a:r>
            <a:r>
              <a:rPr lang="en-US" b="1" dirty="0"/>
              <a:t>20% Test Set</a:t>
            </a:r>
            <a:r>
              <a:rPr lang="en-US" dirty="0"/>
              <a:t> (to validate classification accuracy).</a:t>
            </a:r>
          </a:p>
          <a:p>
            <a:r>
              <a:rPr lang="en-US" b="1" dirty="0"/>
              <a:t>Iterative Model Training:</a:t>
            </a:r>
            <a:r>
              <a:rPr lang="en-US" dirty="0"/>
              <a:t> * Train HMMs across a range of </a:t>
            </a:r>
            <a:r>
              <a:rPr lang="en-US" b="1" dirty="0"/>
              <a:t>Hidden States</a:t>
            </a:r>
            <a:r>
              <a:rPr lang="en-US" dirty="0"/>
              <a:t> (2–5).</a:t>
            </a:r>
          </a:p>
          <a:p>
            <a:pPr lvl="1"/>
            <a:r>
              <a:rPr lang="en-US" dirty="0"/>
              <a:t>Train GMMs across a range of </a:t>
            </a:r>
            <a:r>
              <a:rPr lang="en-US" b="1" dirty="0"/>
              <a:t>Gaussian Components</a:t>
            </a:r>
            <a:r>
              <a:rPr lang="en-US" dirty="0"/>
              <a:t> (2–5).</a:t>
            </a:r>
          </a:p>
          <a:p>
            <a:r>
              <a:rPr lang="en-US" b="1" dirty="0"/>
              <a:t>Performance Evaluation:</a:t>
            </a:r>
            <a:r>
              <a:rPr lang="en-US" dirty="0"/>
              <a:t> Predict labels using the test set and calculate the </a:t>
            </a:r>
            <a:r>
              <a:rPr lang="en-US" dirty="0" err="1"/>
              <a:t>accuracy_score</a:t>
            </a:r>
            <a:r>
              <a:rPr lang="en-US" dirty="0"/>
              <a:t> for both models.</a:t>
            </a:r>
          </a:p>
          <a:p>
            <a:r>
              <a:rPr lang="en-US" b="1" dirty="0"/>
              <a:t>Comparative Visualization:</a:t>
            </a:r>
            <a:r>
              <a:rPr lang="en-US" dirty="0"/>
              <a:t> Generate a comparative bar chart showing the average performance of the sequential (HMM) vs. static (GMM) approach.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B95DA3-9A6D-AE74-5B21-C3B10DF01952}"/>
              </a:ext>
            </a:extLst>
          </p:cNvPr>
          <p:cNvSpPr txBox="1"/>
          <p:nvPr/>
        </p:nvSpPr>
        <p:spPr>
          <a:xfrm>
            <a:off x="381000" y="304800"/>
            <a:ext cx="11125200" cy="4524315"/>
          </a:xfrm>
          <a:prstGeom prst="rect">
            <a:avLst/>
          </a:prstGeom>
          <a:noFill/>
        </p:spPr>
        <p:txBody>
          <a:bodyPr wrap="square">
            <a:spAutoFit/>
          </a:bodyPr>
          <a:lstStyle/>
          <a:p>
            <a:pPr>
              <a:buNone/>
            </a:pPr>
            <a:r>
              <a:rPr lang="en-US" b="1" dirty="0"/>
              <a:t>Models &amp; Algorithms Used</a:t>
            </a:r>
          </a:p>
          <a:p>
            <a:pPr>
              <a:buNone/>
            </a:pPr>
            <a:r>
              <a:rPr lang="en-US" b="1" dirty="0"/>
              <a:t>Algorithm 1: Gaussian Hidden Markov Model (HMM)</a:t>
            </a:r>
          </a:p>
          <a:p>
            <a:pPr>
              <a:buFont typeface="Arial" panose="020B0604020202020204" pitchFamily="34" charset="0"/>
              <a:buChar char="•"/>
            </a:pPr>
            <a:r>
              <a:rPr lang="en-US" b="1" dirty="0"/>
              <a:t>Concept:</a:t>
            </a:r>
            <a:r>
              <a:rPr lang="en-US" dirty="0"/>
              <a:t> A temporal probabilistic model where the system is assumed to be a Markov process with unobserved (hidden) states.</a:t>
            </a:r>
          </a:p>
          <a:p>
            <a:pPr>
              <a:buFont typeface="Arial" panose="020B0604020202020204" pitchFamily="34" charset="0"/>
              <a:buChar char="•"/>
            </a:pPr>
            <a:r>
              <a:rPr lang="en-US" b="1" dirty="0"/>
              <a:t>Key Parameters:</a:t>
            </a:r>
            <a:r>
              <a:rPr lang="en-US" dirty="0"/>
              <a:t> * </a:t>
            </a:r>
            <a:r>
              <a:rPr lang="en-US" dirty="0" err="1">
                <a:latin typeface="Courier New" panose="02070309020205020404" pitchFamily="49" charset="0"/>
              </a:rPr>
              <a:t>n_components</a:t>
            </a:r>
            <a:r>
              <a:rPr lang="en-US" dirty="0"/>
              <a:t>: Number of hidden states.</a:t>
            </a:r>
          </a:p>
          <a:p>
            <a:pPr marL="742950" lvl="1" indent="-285750">
              <a:buFont typeface="Arial" panose="020B0604020202020204" pitchFamily="34" charset="0"/>
              <a:buChar char="•"/>
            </a:pPr>
            <a:r>
              <a:rPr lang="en-US" dirty="0" err="1">
                <a:latin typeface="Courier New" panose="02070309020205020404" pitchFamily="49" charset="0"/>
              </a:rPr>
              <a:t>covariance_type</a:t>
            </a:r>
            <a:r>
              <a:rPr lang="en-US" dirty="0">
                <a:latin typeface="Courier New" panose="02070309020205020404" pitchFamily="49" charset="0"/>
              </a:rPr>
              <a:t>="</a:t>
            </a:r>
            <a:r>
              <a:rPr lang="en-US" dirty="0" err="1">
                <a:latin typeface="Courier New" panose="02070309020205020404" pitchFamily="49" charset="0"/>
              </a:rPr>
              <a:t>diag</a:t>
            </a:r>
            <a:r>
              <a:rPr lang="en-US" dirty="0">
                <a:latin typeface="Courier New" panose="02070309020205020404" pitchFamily="49" charset="0"/>
              </a:rPr>
              <a:t>"</a:t>
            </a:r>
            <a:r>
              <a:rPr lang="en-US" dirty="0"/>
              <a:t>: Assumes independent variance for each feature.</a:t>
            </a:r>
          </a:p>
          <a:p>
            <a:pPr>
              <a:buFont typeface="Arial" panose="020B0604020202020204" pitchFamily="34" charset="0"/>
              <a:buChar char="•"/>
            </a:pPr>
            <a:r>
              <a:rPr lang="en-US" b="1" dirty="0"/>
              <a:t>Logic:</a:t>
            </a:r>
            <a:r>
              <a:rPr lang="en-US" dirty="0"/>
              <a:t> It treats the relationship between different pixel locations as a "sequence," attempting to find a state-transition path that identifies a sign.</a:t>
            </a:r>
          </a:p>
          <a:p>
            <a:pPr>
              <a:buNone/>
            </a:pPr>
            <a:r>
              <a:rPr lang="en-US" b="1" dirty="0"/>
              <a:t>Algorithm 2: Gaussian Mixture Model (GMM)</a:t>
            </a:r>
          </a:p>
          <a:p>
            <a:pPr>
              <a:buFont typeface="Arial" panose="020B0604020202020204" pitchFamily="34" charset="0"/>
              <a:buChar char="•"/>
            </a:pPr>
            <a:r>
              <a:rPr lang="en-US" b="1" dirty="0"/>
              <a:t>Concept:</a:t>
            </a:r>
            <a:r>
              <a:rPr lang="en-US" dirty="0"/>
              <a:t> A static clustering algorithm that represents the data as a weighted sum of multiple Gaussian distributions.</a:t>
            </a:r>
          </a:p>
          <a:p>
            <a:pPr>
              <a:buFont typeface="Arial" panose="020B0604020202020204" pitchFamily="34" charset="0"/>
              <a:buChar char="•"/>
            </a:pPr>
            <a:r>
              <a:rPr lang="en-US" b="1" dirty="0"/>
              <a:t>Key Parameters:</a:t>
            </a:r>
            <a:endParaRPr lang="en-US" dirty="0"/>
          </a:p>
          <a:p>
            <a:pPr marL="742950" lvl="1" indent="-285750">
              <a:buFont typeface="Arial" panose="020B0604020202020204" pitchFamily="34" charset="0"/>
              <a:buChar char="•"/>
            </a:pPr>
            <a:r>
              <a:rPr lang="en-US" dirty="0" err="1">
                <a:latin typeface="Courier New" panose="02070309020205020404" pitchFamily="49" charset="0"/>
              </a:rPr>
              <a:t>n_components</a:t>
            </a:r>
            <a:r>
              <a:rPr lang="en-US" dirty="0"/>
              <a:t>: Number of distinct Gaussian clusters.</a:t>
            </a:r>
          </a:p>
          <a:p>
            <a:pPr marL="742950" lvl="1" indent="-285750">
              <a:buFont typeface="Arial" panose="020B0604020202020204" pitchFamily="34" charset="0"/>
              <a:buChar char="•"/>
            </a:pPr>
            <a:r>
              <a:rPr lang="en-US" dirty="0" err="1">
                <a:latin typeface="Courier New" panose="02070309020205020404" pitchFamily="49" charset="0"/>
              </a:rPr>
              <a:t>covariance_type</a:t>
            </a:r>
            <a:r>
              <a:rPr lang="en-US" dirty="0">
                <a:latin typeface="Courier New" panose="02070309020205020404" pitchFamily="49" charset="0"/>
              </a:rPr>
              <a:t>='</a:t>
            </a:r>
            <a:r>
              <a:rPr lang="en-US" dirty="0" err="1">
                <a:latin typeface="Courier New" panose="02070309020205020404" pitchFamily="49" charset="0"/>
              </a:rPr>
              <a:t>diag</a:t>
            </a:r>
            <a:r>
              <a:rPr lang="en-US" dirty="0">
                <a:latin typeface="Courier New" panose="02070309020205020404" pitchFamily="49" charset="0"/>
              </a:rPr>
              <a:t>'</a:t>
            </a:r>
            <a:r>
              <a:rPr lang="en-US" dirty="0"/>
              <a:t>: Simplifies the model to focus on variance along the axes.</a:t>
            </a:r>
          </a:p>
          <a:p>
            <a:pPr>
              <a:buFont typeface="Arial" panose="020B0604020202020204" pitchFamily="34" charset="0"/>
              <a:buChar char="•"/>
            </a:pPr>
            <a:r>
              <a:rPr lang="en-US" b="1" dirty="0"/>
              <a:t>Logic:</a:t>
            </a:r>
            <a:r>
              <a:rPr lang="en-US" dirty="0"/>
              <a:t> It identifies the "density centers" of different signs in the feature space without assuming any temporal or sequential order between pixels.</a:t>
            </a:r>
          </a:p>
        </p:txBody>
      </p:sp>
    </p:spTree>
    <p:extLst>
      <p:ext uri="{BB962C8B-B14F-4D97-AF65-F5344CB8AC3E}">
        <p14:creationId xmlns:p14="http://schemas.microsoft.com/office/powerpoint/2010/main" val="605206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FDB307-A185-4E6A-96C0-C6A73D680687}"/>
              </a:ext>
            </a:extLst>
          </p:cNvPr>
          <p:cNvSpPr txBox="1"/>
          <p:nvPr/>
        </p:nvSpPr>
        <p:spPr>
          <a:xfrm>
            <a:off x="228600" y="228600"/>
            <a:ext cx="8912506" cy="553998"/>
          </a:xfrm>
          <a:prstGeom prst="rect">
            <a:avLst/>
          </a:prstGeom>
          <a:noFill/>
        </p:spPr>
        <p:txBody>
          <a:bodyPr wrap="square">
            <a:spAutoFit/>
          </a:bodyPr>
          <a:lstStyle/>
          <a:p>
            <a:r>
              <a:rPr lang="en-US" sz="3000" dirty="0"/>
              <a:t>Justification for Model Selection :</a:t>
            </a:r>
          </a:p>
        </p:txBody>
      </p:sp>
      <p:graphicFrame>
        <p:nvGraphicFramePr>
          <p:cNvPr id="4" name="Table 3">
            <a:extLst>
              <a:ext uri="{FF2B5EF4-FFF2-40B4-BE49-F238E27FC236}">
                <a16:creationId xmlns:a16="http://schemas.microsoft.com/office/drawing/2014/main" id="{7BCF37BE-C492-65CC-AB84-735DA4EBF60F}"/>
              </a:ext>
            </a:extLst>
          </p:cNvPr>
          <p:cNvGraphicFramePr>
            <a:graphicFrameLocks noGrp="1"/>
          </p:cNvGraphicFramePr>
          <p:nvPr>
            <p:extLst>
              <p:ext uri="{D42A27DB-BD31-4B8C-83A1-F6EECF244321}">
                <p14:modId xmlns:p14="http://schemas.microsoft.com/office/powerpoint/2010/main" val="708303373"/>
              </p:ext>
            </p:extLst>
          </p:nvPr>
        </p:nvGraphicFramePr>
        <p:xfrm>
          <a:off x="2133600" y="1143000"/>
          <a:ext cx="8610600" cy="3667836"/>
        </p:xfrm>
        <a:graphic>
          <a:graphicData uri="http://schemas.openxmlformats.org/drawingml/2006/table">
            <a:tbl>
              <a:tblPr/>
              <a:tblGrid>
                <a:gridCol w="2870200">
                  <a:extLst>
                    <a:ext uri="{9D8B030D-6E8A-4147-A177-3AD203B41FA5}">
                      <a16:colId xmlns:a16="http://schemas.microsoft.com/office/drawing/2014/main" val="1334938860"/>
                    </a:ext>
                  </a:extLst>
                </a:gridCol>
                <a:gridCol w="2870200">
                  <a:extLst>
                    <a:ext uri="{9D8B030D-6E8A-4147-A177-3AD203B41FA5}">
                      <a16:colId xmlns:a16="http://schemas.microsoft.com/office/drawing/2014/main" val="3806124446"/>
                    </a:ext>
                  </a:extLst>
                </a:gridCol>
                <a:gridCol w="2870200">
                  <a:extLst>
                    <a:ext uri="{9D8B030D-6E8A-4147-A177-3AD203B41FA5}">
                      <a16:colId xmlns:a16="http://schemas.microsoft.com/office/drawing/2014/main" val="1006645442"/>
                    </a:ext>
                  </a:extLst>
                </a:gridCol>
              </a:tblGrid>
              <a:tr h="392921">
                <a:tc>
                  <a:txBody>
                    <a:bodyPr/>
                    <a:lstStyle/>
                    <a:p>
                      <a:pPr rtl="0">
                        <a:buNone/>
                      </a:pPr>
                      <a:r>
                        <a:rPr lang="en-US" sz="1500" b="1" dirty="0">
                          <a:solidFill>
                            <a:srgbClr val="1F1F1F"/>
                          </a:solidFill>
                          <a:effectLst/>
                          <a:latin typeface="Google Sans Text"/>
                        </a:rPr>
                        <a:t>Reason</a:t>
                      </a:r>
                      <a:endParaRPr lang="en-US" sz="1500" dirty="0">
                        <a:solidFill>
                          <a:srgbClr val="1F1F1F"/>
                        </a:solidFill>
                        <a:effectLst/>
                        <a:latin typeface="Google Sans Text"/>
                      </a:endParaRP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b="1">
                          <a:solidFill>
                            <a:srgbClr val="1F1F1F"/>
                          </a:solidFill>
                          <a:effectLst/>
                          <a:latin typeface="Google Sans Text"/>
                        </a:rPr>
                        <a:t>Hidden Markov Model (HMM)</a:t>
                      </a:r>
                      <a:endParaRPr lang="en-US" sz="1500">
                        <a:solidFill>
                          <a:srgbClr val="1F1F1F"/>
                        </a:solidFill>
                        <a:effectLst/>
                        <a:latin typeface="Google Sans Text"/>
                      </a:endParaRP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b="1">
                          <a:solidFill>
                            <a:srgbClr val="1F1F1F"/>
                          </a:solidFill>
                          <a:effectLst/>
                          <a:latin typeface="Google Sans Text"/>
                        </a:rPr>
                        <a:t>Gaussian Mixture Model (GMM)</a:t>
                      </a:r>
                      <a:endParaRPr lang="en-US" sz="1500">
                        <a:solidFill>
                          <a:srgbClr val="1F1F1F"/>
                        </a:solidFill>
                        <a:effectLst/>
                        <a:latin typeface="Google Sans Text"/>
                      </a:endParaRP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30123645"/>
                  </a:ext>
                </a:extLst>
              </a:tr>
              <a:tr h="970350">
                <a:tc>
                  <a:txBody>
                    <a:bodyPr/>
                    <a:lstStyle/>
                    <a:p>
                      <a:pPr rtl="0">
                        <a:buNone/>
                      </a:pPr>
                      <a:r>
                        <a:rPr lang="en-US" sz="1500" b="1">
                          <a:solidFill>
                            <a:srgbClr val="1F1F1F"/>
                          </a:solidFill>
                          <a:effectLst/>
                          <a:latin typeface="Google Sans Text"/>
                        </a:rPr>
                        <a:t>Data Nature</a:t>
                      </a:r>
                      <a:endParaRPr lang="en-US" sz="1500">
                        <a:solidFill>
                          <a:srgbClr val="1F1F1F"/>
                        </a:solidFill>
                        <a:effectLst/>
                        <a:latin typeface="Google Sans Text"/>
                      </a:endParaRP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Ideal for </a:t>
                      </a:r>
                      <a:r>
                        <a:rPr lang="en-US" sz="1500" b="1">
                          <a:solidFill>
                            <a:srgbClr val="1F1F1F"/>
                          </a:solidFill>
                          <a:effectLst/>
                          <a:latin typeface="Google Sans Text"/>
                        </a:rPr>
                        <a:t>sequential patterns</a:t>
                      </a:r>
                      <a:r>
                        <a:rPr lang="en-US" sz="1500">
                          <a:solidFill>
                            <a:srgbClr val="1F1F1F"/>
                          </a:solidFill>
                          <a:effectLst/>
                          <a:latin typeface="Google Sans Text"/>
                        </a:rPr>
                        <a:t>. Even in static images, it models the "flow" of pixel intensities across the hand shape.</a:t>
                      </a: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Ideal for </a:t>
                      </a:r>
                      <a:r>
                        <a:rPr lang="en-US" sz="1500" b="1">
                          <a:solidFill>
                            <a:srgbClr val="1F1F1F"/>
                          </a:solidFill>
                          <a:effectLst/>
                          <a:latin typeface="Google Sans Text"/>
                        </a:rPr>
                        <a:t>static density estimation</a:t>
                      </a:r>
                      <a:r>
                        <a:rPr lang="en-US" sz="1500">
                          <a:solidFill>
                            <a:srgbClr val="1F1F1F"/>
                          </a:solidFill>
                          <a:effectLst/>
                          <a:latin typeface="Google Sans Text"/>
                        </a:rPr>
                        <a:t>. It captures the general "look" of a sign based on pixel clusters.</a:t>
                      </a: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76065452"/>
                  </a:ext>
                </a:extLst>
              </a:tr>
              <a:tr h="854862">
                <a:tc>
                  <a:txBody>
                    <a:bodyPr/>
                    <a:lstStyle/>
                    <a:p>
                      <a:pPr rtl="0">
                        <a:buNone/>
                      </a:pPr>
                      <a:r>
                        <a:rPr lang="en-US" sz="1500" b="1">
                          <a:solidFill>
                            <a:srgbClr val="1F1F1F"/>
                          </a:solidFill>
                          <a:effectLst/>
                          <a:latin typeface="Google Sans Text"/>
                        </a:rPr>
                        <a:t>Transition Logic</a:t>
                      </a:r>
                      <a:endParaRPr lang="en-US" sz="1500">
                        <a:solidFill>
                          <a:srgbClr val="1F1F1F"/>
                        </a:solidFill>
                        <a:effectLst/>
                        <a:latin typeface="Google Sans Text"/>
                      </a:endParaRP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Uses transition matrices to handle variability in how a sign is formed spatially.</a:t>
                      </a: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Uses probability density functions to define clear boundaries between different sign classes.</a:t>
                      </a: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15659830"/>
                  </a:ext>
                </a:extLst>
              </a:tr>
              <a:tr h="739377">
                <a:tc>
                  <a:txBody>
                    <a:bodyPr/>
                    <a:lstStyle/>
                    <a:p>
                      <a:pPr rtl="0">
                        <a:buNone/>
                      </a:pPr>
                      <a:r>
                        <a:rPr lang="en-US" sz="1500" b="1">
                          <a:solidFill>
                            <a:srgbClr val="1F1F1F"/>
                          </a:solidFill>
                          <a:effectLst/>
                          <a:latin typeface="Google Sans Text"/>
                        </a:rPr>
                        <a:t>Computational Cost</a:t>
                      </a:r>
                      <a:endParaRPr lang="en-US" sz="1500">
                        <a:solidFill>
                          <a:srgbClr val="1F1F1F"/>
                        </a:solidFill>
                        <a:effectLst/>
                        <a:latin typeface="Google Sans Text"/>
                      </a:endParaRP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Moderate; relies on the </a:t>
                      </a:r>
                      <a:r>
                        <a:rPr lang="en-US" sz="1500" b="1">
                          <a:solidFill>
                            <a:srgbClr val="1F1F1F"/>
                          </a:solidFill>
                          <a:effectLst/>
                          <a:latin typeface="Google Sans Text"/>
                        </a:rPr>
                        <a:t>Viterbi Algorithm</a:t>
                      </a:r>
                      <a:r>
                        <a:rPr lang="en-US" sz="1500">
                          <a:solidFill>
                            <a:srgbClr val="1F1F1F"/>
                          </a:solidFill>
                          <a:effectLst/>
                          <a:latin typeface="Google Sans Text"/>
                        </a:rPr>
                        <a:t> for decoding.</a:t>
                      </a: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Low; relies on the </a:t>
                      </a:r>
                      <a:r>
                        <a:rPr lang="en-US" sz="1500" b="1">
                          <a:solidFill>
                            <a:srgbClr val="1F1F1F"/>
                          </a:solidFill>
                          <a:effectLst/>
                          <a:latin typeface="Google Sans Text"/>
                        </a:rPr>
                        <a:t>EM (Expectation-Maximization)</a:t>
                      </a:r>
                      <a:r>
                        <a:rPr lang="en-US" sz="1500">
                          <a:solidFill>
                            <a:srgbClr val="1F1F1F"/>
                          </a:solidFill>
                          <a:effectLst/>
                          <a:latin typeface="Google Sans Text"/>
                        </a:rPr>
                        <a:t> algorithm for clustering.</a:t>
                      </a: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59597112"/>
                  </a:ext>
                </a:extLst>
              </a:tr>
              <a:tr h="623891">
                <a:tc>
                  <a:txBody>
                    <a:bodyPr/>
                    <a:lstStyle/>
                    <a:p>
                      <a:pPr rtl="0">
                        <a:buNone/>
                      </a:pPr>
                      <a:r>
                        <a:rPr lang="en-US" sz="1500" b="1">
                          <a:solidFill>
                            <a:srgbClr val="1F1F1F"/>
                          </a:solidFill>
                          <a:effectLst/>
                          <a:latin typeface="Google Sans Text"/>
                        </a:rPr>
                        <a:t>Complexity</a:t>
                      </a:r>
                      <a:endParaRPr lang="en-US" sz="1500">
                        <a:solidFill>
                          <a:srgbClr val="1F1F1F"/>
                        </a:solidFill>
                        <a:effectLst/>
                        <a:latin typeface="Google Sans Text"/>
                      </a:endParaRP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Higher; accounts for the "hidden" underlying structure of a gesture.</a:t>
                      </a: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Lower; focuses purely on the observed spatial distribution of features.</a:t>
                      </a:r>
                    </a:p>
                  </a:txBody>
                  <a:tcPr marL="18394" marR="18394" marT="12263" marB="12263"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9539338"/>
                  </a:ext>
                </a:extLst>
              </a:tr>
            </a:tbl>
          </a:graphicData>
        </a:graphic>
      </p:graphicFrame>
    </p:spTree>
    <p:extLst>
      <p:ext uri="{BB962C8B-B14F-4D97-AF65-F5344CB8AC3E}">
        <p14:creationId xmlns:p14="http://schemas.microsoft.com/office/powerpoint/2010/main" val="767162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4452" rIns="0" bIns="0" rtlCol="0">
            <a:spAutoFit/>
          </a:bodyPr>
          <a:lstStyle/>
          <a:p>
            <a:pPr marL="12700">
              <a:lnSpc>
                <a:spcPct val="100000"/>
              </a:lnSpc>
              <a:spcBef>
                <a:spcPts val="100"/>
              </a:spcBef>
            </a:pPr>
            <a:r>
              <a:rPr dirty="0"/>
              <a:t>Implementation</a:t>
            </a:r>
            <a:r>
              <a:rPr spc="-110" dirty="0"/>
              <a:t> </a:t>
            </a:r>
            <a:r>
              <a:rPr spc="-10" dirty="0"/>
              <a:t>Details</a:t>
            </a:r>
          </a:p>
        </p:txBody>
      </p:sp>
      <p:sp>
        <p:nvSpPr>
          <p:cNvPr id="3" name="object 3"/>
          <p:cNvSpPr txBox="1">
            <a:spLocks noGrp="1"/>
          </p:cNvSpPr>
          <p:nvPr>
            <p:ph type="body" idx="1"/>
          </p:nvPr>
        </p:nvSpPr>
        <p:spPr>
          <a:xfrm>
            <a:off x="228600" y="1143000"/>
            <a:ext cx="11429999" cy="5508559"/>
          </a:xfrm>
          <a:prstGeom prst="rect">
            <a:avLst/>
          </a:prstGeom>
        </p:spPr>
        <p:txBody>
          <a:bodyPr vert="horz" wrap="square" lIns="0" tIns="95885" rIns="0" bIns="0" rtlCol="0">
            <a:spAutoFit/>
          </a:bodyPr>
          <a:lstStyle/>
          <a:p>
            <a:pPr marL="240665" indent="-227965">
              <a:lnSpc>
                <a:spcPct val="100000"/>
              </a:lnSpc>
              <a:spcBef>
                <a:spcPts val="755"/>
              </a:spcBef>
              <a:buFont typeface="Arial MT"/>
              <a:buChar char="•"/>
              <a:tabLst>
                <a:tab pos="240665" algn="l"/>
              </a:tabLst>
            </a:pPr>
            <a:r>
              <a:rPr sz="2000" b="1" dirty="0"/>
              <a:t>Algorithms</a:t>
            </a:r>
            <a:r>
              <a:rPr sz="2000" b="1" spc="-55" dirty="0"/>
              <a:t> </a:t>
            </a:r>
            <a:r>
              <a:rPr sz="2000" b="1" dirty="0"/>
              <a:t>/ ML</a:t>
            </a:r>
            <a:r>
              <a:rPr sz="2000" b="1" spc="-30" dirty="0"/>
              <a:t> </a:t>
            </a:r>
            <a:r>
              <a:rPr sz="2000" b="1" dirty="0"/>
              <a:t>/ DL</a:t>
            </a:r>
            <a:r>
              <a:rPr sz="2000" b="1" spc="-25" dirty="0"/>
              <a:t> </a:t>
            </a:r>
            <a:r>
              <a:rPr sz="2000" b="1" spc="-10" dirty="0"/>
              <a:t>models</a:t>
            </a:r>
            <a:r>
              <a:rPr lang="en-US" spc="-10" dirty="0"/>
              <a:t>: </a:t>
            </a:r>
            <a:r>
              <a:rPr lang="en-US" sz="1800" spc="-10" dirty="0"/>
              <a:t>Overview The implementation focuses on Generative Modeling using two distinct statistical approaches to classify sign language gestures based on pixel intensity.ML Models Used: Gaussian Hidden Markov Model (Gaussian HMM): Used to model the "sequential" nature of pixel data. Gaussian Mixture Model (GMM): Used to model the "distributional" clusters of the pixel data.</a:t>
            </a:r>
            <a:endParaRPr spc="-10" dirty="0"/>
          </a:p>
          <a:p>
            <a:pPr marL="240029" indent="-227329">
              <a:lnSpc>
                <a:spcPct val="100000"/>
              </a:lnSpc>
              <a:spcBef>
                <a:spcPts val="660"/>
              </a:spcBef>
              <a:buFont typeface="Arial MT"/>
              <a:buChar char="•"/>
              <a:tabLst>
                <a:tab pos="240029" algn="l"/>
              </a:tabLst>
            </a:pPr>
            <a:r>
              <a:rPr sz="2000" b="1" dirty="0"/>
              <a:t>Mathematical</a:t>
            </a:r>
            <a:r>
              <a:rPr sz="2000" b="1" spc="-80" dirty="0"/>
              <a:t> </a:t>
            </a:r>
            <a:r>
              <a:rPr sz="2000" b="1" spc="-10" dirty="0"/>
              <a:t>formulation</a:t>
            </a:r>
            <a:r>
              <a:rPr lang="en-US" sz="2000" b="1" spc="-10" dirty="0"/>
              <a:t>: </a:t>
            </a:r>
            <a:r>
              <a:rPr lang="en-US" sz="1700" spc="-10" dirty="0"/>
              <a:t>Hidden Markov Model (HMM)The HMM represents the system as a Markov process with unobserved (hidden) states. It is defined by the triplet $\lambda = (A, B, \pi)$:State Transition Probability Matrix ($A$): $a_{</a:t>
            </a:r>
            <a:r>
              <a:rPr lang="en-US" sz="1700" spc="-10" dirty="0" err="1"/>
              <a:t>ij</a:t>
            </a:r>
            <a:r>
              <a:rPr lang="en-US" sz="1700" spc="-10" dirty="0"/>
              <a:t>} = P(q_{t+1} = </a:t>
            </a:r>
            <a:r>
              <a:rPr lang="en-US" sz="1700" spc="-10" dirty="0" err="1"/>
              <a:t>S_j</a:t>
            </a:r>
            <a:r>
              <a:rPr lang="en-US" sz="1700" spc="-10" dirty="0"/>
              <a:t> | </a:t>
            </a:r>
            <a:r>
              <a:rPr lang="en-US" sz="1700" spc="-10" dirty="0" err="1"/>
              <a:t>q_t</a:t>
            </a:r>
            <a:r>
              <a:rPr lang="en-US" sz="1700" spc="-10" dirty="0"/>
              <a:t> = </a:t>
            </a:r>
            <a:r>
              <a:rPr lang="en-US" sz="1700" spc="-10" dirty="0" err="1"/>
              <a:t>S_i</a:t>
            </a:r>
            <a:r>
              <a:rPr lang="en-US" sz="1700" spc="-10" dirty="0"/>
              <a:t>)$, representing the probability of moving from one hidden pixel state to another. Emission Probability ($B$): Since you used Gaussian HMM, the emission follows a Normal distribution:$$</a:t>
            </a:r>
            <a:r>
              <a:rPr lang="en-US" sz="1700" spc="-10" dirty="0" err="1"/>
              <a:t>b_j</a:t>
            </a:r>
            <a:r>
              <a:rPr lang="en-US" sz="1700" spc="-10" dirty="0"/>
              <a:t>(x) = \</a:t>
            </a:r>
            <a:r>
              <a:rPr lang="en-US" sz="1700" spc="-10" dirty="0" err="1"/>
              <a:t>mathcal</a:t>
            </a:r>
            <a:r>
              <a:rPr lang="en-US" sz="1700" spc="-10" dirty="0"/>
              <a:t>{N}(x; \</a:t>
            </a:r>
            <a:r>
              <a:rPr lang="en-US" sz="1700" spc="-10" dirty="0" err="1"/>
              <a:t>mu_j</a:t>
            </a:r>
            <a:r>
              <a:rPr lang="en-US" sz="1700" spc="-10" dirty="0"/>
              <a:t>, \</a:t>
            </a:r>
            <a:r>
              <a:rPr lang="en-US" sz="1700" spc="-10" dirty="0" err="1"/>
              <a:t>Sigma_j</a:t>
            </a:r>
            <a:r>
              <a:rPr lang="en-US" sz="1700" spc="-10" dirty="0"/>
              <a:t>)$$Initial State Distribution ($\pi$): $\</a:t>
            </a:r>
            <a:r>
              <a:rPr lang="en-US" sz="1700" spc="-10" dirty="0" err="1"/>
              <a:t>pi_i</a:t>
            </a:r>
            <a:r>
              <a:rPr lang="en-US" sz="1700" spc="-10" dirty="0"/>
              <a:t> = P(q_1 = </a:t>
            </a:r>
            <a:r>
              <a:rPr lang="en-US" sz="1700" spc="-10" dirty="0" err="1"/>
              <a:t>S_i</a:t>
            </a:r>
            <a:r>
              <a:rPr lang="en-US" sz="1700" spc="-10" dirty="0"/>
              <a:t>)$, the probability of starting in a specific </a:t>
            </a:r>
            <a:r>
              <a:rPr lang="en-US" sz="1700" spc="-10" dirty="0" err="1"/>
              <a:t>state.B</a:t>
            </a:r>
            <a:r>
              <a:rPr lang="en-US" sz="1700" spc="-10" dirty="0"/>
              <a:t>. Gaussian Mixture Model (GMM)GMM assumes the data is a mixture of several Gaussian distributions. The probability of a pixel observation $x$ is:$$p(x) = \sum_{k=1}^{K} \</a:t>
            </a:r>
            <a:r>
              <a:rPr lang="en-US" sz="1700" spc="-10" dirty="0" err="1"/>
              <a:t>phi_k</a:t>
            </a:r>
            <a:r>
              <a:rPr lang="en-US" sz="1700" spc="-10" dirty="0"/>
              <a:t> \</a:t>
            </a:r>
            <a:r>
              <a:rPr lang="en-US" sz="1700" spc="-10" dirty="0" err="1"/>
              <a:t>mathcal</a:t>
            </a:r>
            <a:r>
              <a:rPr lang="en-US" sz="1700" spc="-10" dirty="0"/>
              <a:t>{N}(x | \</a:t>
            </a:r>
            <a:r>
              <a:rPr lang="en-US" sz="1700" spc="-10" dirty="0" err="1"/>
              <a:t>mu_k</a:t>
            </a:r>
            <a:r>
              <a:rPr lang="en-US" sz="1700" spc="-10" dirty="0"/>
              <a:t>, \</a:t>
            </a:r>
            <a:r>
              <a:rPr lang="en-US" sz="1700" spc="-10" dirty="0" err="1"/>
              <a:t>Sigma_k</a:t>
            </a:r>
            <a:r>
              <a:rPr lang="en-US" sz="1700" spc="-10" dirty="0"/>
              <a:t>)$$Where:$K$ is the number of components.$\</a:t>
            </a:r>
            <a:r>
              <a:rPr lang="en-US" sz="1700" spc="-10" dirty="0" err="1"/>
              <a:t>phi_k</a:t>
            </a:r>
            <a:r>
              <a:rPr lang="en-US" sz="1700" spc="-10" dirty="0"/>
              <a:t>$ are the mixing weights (where $\sum \</a:t>
            </a:r>
            <a:r>
              <a:rPr lang="en-US" sz="1700" spc="-10" dirty="0" err="1"/>
              <a:t>phi_k</a:t>
            </a:r>
            <a:r>
              <a:rPr lang="en-US" sz="1700" spc="-10" dirty="0"/>
              <a:t> = 1$).$\</a:t>
            </a:r>
            <a:r>
              <a:rPr lang="en-US" sz="1700" spc="-10" dirty="0" err="1"/>
              <a:t>mathcal</a:t>
            </a:r>
            <a:r>
              <a:rPr lang="en-US" sz="1700" spc="-10" dirty="0"/>
              <a:t>{N}$ is the Gaussian density for the $k$-</a:t>
            </a:r>
            <a:r>
              <a:rPr lang="en-US" sz="1700" spc="-10" dirty="0" err="1"/>
              <a:t>th</a:t>
            </a:r>
            <a:r>
              <a:rPr lang="en-US" sz="1700" spc="-10" dirty="0"/>
              <a:t> component</a:t>
            </a:r>
            <a:r>
              <a:rPr lang="en-US" sz="1500" spc="-10" dirty="0"/>
              <a:t>.</a:t>
            </a:r>
          </a:p>
          <a:p>
            <a:pPr marL="240029" indent="-227329">
              <a:lnSpc>
                <a:spcPct val="100000"/>
              </a:lnSpc>
              <a:spcBef>
                <a:spcPts val="660"/>
              </a:spcBef>
              <a:buFont typeface="Arial MT"/>
              <a:buChar char="•"/>
              <a:tabLst>
                <a:tab pos="240029" algn="l"/>
              </a:tabLst>
            </a:pPr>
            <a:endParaRPr sz="1500" b="1" spc="-1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D9E4BE-AF11-7F7F-CA9F-486DF4470415}"/>
              </a:ext>
            </a:extLst>
          </p:cNvPr>
          <p:cNvSpPr txBox="1"/>
          <p:nvPr/>
        </p:nvSpPr>
        <p:spPr>
          <a:xfrm>
            <a:off x="457200" y="304800"/>
            <a:ext cx="11201400" cy="3247043"/>
          </a:xfrm>
          <a:prstGeom prst="rect">
            <a:avLst/>
          </a:prstGeom>
          <a:noFill/>
        </p:spPr>
        <p:txBody>
          <a:bodyPr wrap="square">
            <a:spAutoFit/>
          </a:bodyPr>
          <a:lstStyle/>
          <a:p>
            <a:r>
              <a:rPr lang="en-US" sz="2500" b="1" dirty="0"/>
              <a:t>Parameter Selection</a:t>
            </a:r>
            <a:r>
              <a:rPr lang="en-US" dirty="0"/>
              <a:t> : </a:t>
            </a:r>
            <a:r>
              <a:rPr lang="en-US" sz="2000" dirty="0"/>
              <a:t>Choosing the right parameters is critical for model stability and accuracy. Here is the justification for the settings used in your code: Parameter Selection </a:t>
            </a:r>
            <a:r>
              <a:rPr lang="en-US" sz="2000" dirty="0" err="1"/>
              <a:t>Justificationn_components</a:t>
            </a:r>
            <a:r>
              <a:rPr lang="en-US" sz="2000" dirty="0"/>
              <a:t> Range 2 to 6Prevents overfitting given the small data subset (180 rows). Higher states would cause the model to "memorize" the noise. </a:t>
            </a:r>
            <a:r>
              <a:rPr lang="en-US" sz="2000" dirty="0" err="1"/>
              <a:t>covariance_type</a:t>
            </a:r>
            <a:r>
              <a:rPr lang="en-US" sz="2000" dirty="0"/>
              <a:t> "</a:t>
            </a:r>
            <a:r>
              <a:rPr lang="en-US" sz="2000" dirty="0" err="1"/>
              <a:t>diag</a:t>
            </a:r>
            <a:r>
              <a:rPr lang="en-US" sz="2000" dirty="0"/>
              <a:t>“ Assumes features (pixel 1 and pixel 123) are independent. This reduces computational complexity and prevents singular matrix errors.n_iter100Sufficient for the Expectation-Maximization (EM) algorithm to reach convergence without excessive CPU time.test_size0.2 (20%)A standard split ratio that provides enough data to train the statistical parameters while leaving enough to validate accuracy. Feature Selectionpixel1, pixel123Selects specific "anchor" points in the image to test if sparse data is sufficient for generative classification.</a:t>
            </a:r>
          </a:p>
        </p:txBody>
      </p:sp>
    </p:spTree>
    <p:extLst>
      <p:ext uri="{BB962C8B-B14F-4D97-AF65-F5344CB8AC3E}">
        <p14:creationId xmlns:p14="http://schemas.microsoft.com/office/powerpoint/2010/main" val="73903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4452" rIns="0" bIns="0" rtlCol="0">
            <a:spAutoFit/>
          </a:bodyPr>
          <a:lstStyle/>
          <a:p>
            <a:pPr marL="12700">
              <a:lnSpc>
                <a:spcPct val="100000"/>
              </a:lnSpc>
              <a:spcBef>
                <a:spcPts val="100"/>
              </a:spcBef>
            </a:pPr>
            <a:r>
              <a:rPr dirty="0"/>
              <a:t>Dataset</a:t>
            </a:r>
            <a:r>
              <a:rPr spc="-55" dirty="0"/>
              <a:t> </a:t>
            </a:r>
            <a:r>
              <a:rPr spc="-10" dirty="0"/>
              <a:t>Description</a:t>
            </a:r>
          </a:p>
        </p:txBody>
      </p:sp>
      <p:sp>
        <p:nvSpPr>
          <p:cNvPr id="3" name="object 3"/>
          <p:cNvSpPr txBox="1"/>
          <p:nvPr/>
        </p:nvSpPr>
        <p:spPr>
          <a:xfrm>
            <a:off x="304801" y="914400"/>
            <a:ext cx="11201400" cy="6308778"/>
          </a:xfrm>
          <a:prstGeom prst="rect">
            <a:avLst/>
          </a:prstGeom>
        </p:spPr>
        <p:txBody>
          <a:bodyPr vert="horz" wrap="square" lIns="0" tIns="95885" rIns="0" bIns="0" rtlCol="0">
            <a:spAutoFit/>
          </a:bodyPr>
          <a:lstStyle/>
          <a:p>
            <a:pPr marL="240665" indent="-227965">
              <a:lnSpc>
                <a:spcPct val="100000"/>
              </a:lnSpc>
              <a:spcBef>
                <a:spcPts val="755"/>
              </a:spcBef>
              <a:buFont typeface="Arial MT"/>
              <a:buChar char="•"/>
              <a:tabLst>
                <a:tab pos="240665" algn="l"/>
              </a:tabLst>
            </a:pPr>
            <a:r>
              <a:rPr sz="2000" b="1" dirty="0">
                <a:latin typeface="Courier New"/>
                <a:cs typeface="Courier New"/>
              </a:rPr>
              <a:t>Source</a:t>
            </a:r>
            <a:r>
              <a:rPr sz="2000" b="1" spc="-55" dirty="0">
                <a:latin typeface="Courier New"/>
                <a:cs typeface="Courier New"/>
              </a:rPr>
              <a:t> </a:t>
            </a:r>
            <a:r>
              <a:rPr sz="2000" b="1" dirty="0">
                <a:latin typeface="Courier New"/>
                <a:cs typeface="Courier New"/>
              </a:rPr>
              <a:t>of</a:t>
            </a:r>
            <a:r>
              <a:rPr sz="2000" b="1" spc="-15" dirty="0">
                <a:latin typeface="Courier New"/>
                <a:cs typeface="Courier New"/>
              </a:rPr>
              <a:t> </a:t>
            </a:r>
            <a:r>
              <a:rPr sz="2000" b="1" spc="-20" dirty="0">
                <a:latin typeface="Courier New"/>
                <a:cs typeface="Courier New"/>
              </a:rPr>
              <a:t>data</a:t>
            </a:r>
            <a:r>
              <a:rPr lang="en-US" sz="2800" spc="-20" dirty="0">
                <a:latin typeface="Courier New"/>
                <a:cs typeface="Courier New"/>
              </a:rPr>
              <a:t> :</a:t>
            </a:r>
            <a:r>
              <a:rPr lang="en-US" spc="-20" dirty="0">
                <a:latin typeface="Courier New"/>
                <a:cs typeface="Courier New"/>
              </a:rPr>
              <a:t>The project utilizes the Sign Language MNIST dataset (sourced from Kaggle).Nature of Data: This is a drop-in replacement for the standard MNIST (digits), but instead features hand gestures representing the 24 letters of the English alphabet (excluding J and Z because they require motion).Format: Each image is a $28 \times 28$ pixel grayscale image, flattened into $784$ columns (features) in a CSV format. Target:</a:t>
            </a:r>
            <a:r>
              <a:rPr lang="en-US" sz="2800" spc="-20" dirty="0">
                <a:latin typeface="Courier New"/>
                <a:cs typeface="Courier New"/>
              </a:rPr>
              <a:t> </a:t>
            </a:r>
            <a:r>
              <a:rPr lang="en-US" spc="-20" dirty="0">
                <a:latin typeface="Courier New"/>
                <a:cs typeface="Courier New"/>
              </a:rPr>
              <a:t>Each row contains a label (0-25) representing the specific sign</a:t>
            </a:r>
            <a:endParaRPr dirty="0">
              <a:latin typeface="Courier New"/>
              <a:cs typeface="Courier New"/>
            </a:endParaRPr>
          </a:p>
          <a:p>
            <a:pPr marL="240029" indent="-227329">
              <a:lnSpc>
                <a:spcPct val="100000"/>
              </a:lnSpc>
              <a:spcBef>
                <a:spcPts val="660"/>
              </a:spcBef>
              <a:buFont typeface="Arial MT"/>
              <a:buChar char="•"/>
              <a:tabLst>
                <a:tab pos="240029" algn="l"/>
              </a:tabLst>
            </a:pPr>
            <a:r>
              <a:rPr sz="2000" b="1" dirty="0">
                <a:latin typeface="Courier New"/>
                <a:cs typeface="Courier New"/>
              </a:rPr>
              <a:t>Preprocessing</a:t>
            </a:r>
            <a:r>
              <a:rPr sz="2000" b="1" spc="-80" dirty="0">
                <a:latin typeface="Courier New"/>
                <a:cs typeface="Courier New"/>
              </a:rPr>
              <a:t> </a:t>
            </a:r>
            <a:r>
              <a:rPr sz="2000" b="1" spc="-10" dirty="0">
                <a:latin typeface="Courier New"/>
                <a:cs typeface="Courier New"/>
              </a:rPr>
              <a:t>steps</a:t>
            </a:r>
            <a:r>
              <a:rPr lang="en-US" sz="2000" b="1" spc="-10" dirty="0">
                <a:latin typeface="Courier New"/>
                <a:cs typeface="Courier New"/>
              </a:rPr>
              <a:t> : </a:t>
            </a:r>
            <a:r>
              <a:rPr lang="en-US" spc="-10" dirty="0">
                <a:latin typeface="Courier New"/>
                <a:cs typeface="Courier New"/>
              </a:rPr>
              <a:t>Preprocessing Steps Before feeding the data into the HMM and GMM algorithms, the following steps were implemented to refine the input: Strategic Sub setting: Row Selection: Only rows 20 to 200 were used to simulate a "low-data" environment, testing the efficiency of generative models on small datasets .Feature Engineering: Instead of using all 784 pixels, specific columns (pixel1 and pixel123) were selected to evaluate if anchor-point intensities are sufficient for classification. Label Encoding: * The categorical labels (sign letters) were transformed into numerical indices using Label Encoder. This is essential for the hmm learn and s k learn libraries to calculate probability densities. Data Conversion: * Data frames were converted into NumPy arrays to ensure faster computational processing during the Expectation-Maximization (EM) training cycles of both HMM and GMM.</a:t>
            </a:r>
            <a:endParaRPr lang="en-US" sz="2800" spc="-10" dirty="0">
              <a:latin typeface="Courier New"/>
              <a:cs typeface="Courier New"/>
            </a:endParaRPr>
          </a:p>
          <a:p>
            <a:pPr marL="240029" indent="-227329">
              <a:lnSpc>
                <a:spcPct val="100000"/>
              </a:lnSpc>
              <a:spcBef>
                <a:spcPts val="660"/>
              </a:spcBef>
              <a:buFont typeface="Arial MT"/>
              <a:buChar char="•"/>
              <a:tabLst>
                <a:tab pos="240029" algn="l"/>
              </a:tabLst>
            </a:pPr>
            <a:endParaRPr dirty="0">
              <a:latin typeface="Courier New"/>
              <a:cs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994290-541B-5BD6-56C9-11F986C7518B}"/>
              </a:ext>
            </a:extLst>
          </p:cNvPr>
          <p:cNvSpPr txBox="1"/>
          <p:nvPr/>
        </p:nvSpPr>
        <p:spPr>
          <a:xfrm>
            <a:off x="76200" y="381000"/>
            <a:ext cx="11887200" cy="3200876"/>
          </a:xfrm>
          <a:prstGeom prst="rect">
            <a:avLst/>
          </a:prstGeom>
          <a:noFill/>
        </p:spPr>
        <p:txBody>
          <a:bodyPr wrap="square">
            <a:spAutoFit/>
          </a:bodyPr>
          <a:lstStyle/>
          <a:p>
            <a:r>
              <a:rPr lang="en-US" sz="2200" b="1" dirty="0"/>
              <a:t>Train-Test Split &amp; Validation </a:t>
            </a:r>
            <a:r>
              <a:rPr lang="en-US" dirty="0"/>
              <a:t>: </a:t>
            </a:r>
            <a:r>
              <a:rPr lang="en-US" sz="2000" dirty="0"/>
              <a:t>Strategy The validation strategy ensures that the models are not just memorizing the data but are learning general patterns. Split Ratio: A $80/20$ split was utilized. Training Set ($80\%$): Used by HMM to learn transition matrices and by GMM to estimate Gaussian means. Testing Set ($20\%$): Used to evaluate the accuracy of the models on completely unseen pixel sequences.</a:t>
            </a:r>
          </a:p>
          <a:p>
            <a:r>
              <a:rPr lang="en-US" sz="2000" dirty="0"/>
              <a:t>Random State Consistency: A </a:t>
            </a:r>
            <a:r>
              <a:rPr lang="en-US" sz="2000" dirty="0" err="1"/>
              <a:t>random_state</a:t>
            </a:r>
            <a:r>
              <a:rPr lang="en-US" sz="2000" dirty="0"/>
              <a:t>=42 was used during the split to ensure reproducibility of results during the presentation. Hyperparameter Validation (K-State Range): * The models were not just trained once. They were validated across a range of Hidden States (HMM) and Gaussian Components (GMM) from $2$ to $5$.The final reported performance is an Average Accuracy across these variations, providing a more robust metric than a single-point evaluation.</a:t>
            </a:r>
          </a:p>
        </p:txBody>
      </p:sp>
    </p:spTree>
    <p:extLst>
      <p:ext uri="{BB962C8B-B14F-4D97-AF65-F5344CB8AC3E}">
        <p14:creationId xmlns:p14="http://schemas.microsoft.com/office/powerpoint/2010/main" val="22503753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4452" rIns="0" bIns="0" rtlCol="0">
            <a:spAutoFit/>
          </a:bodyPr>
          <a:lstStyle/>
          <a:p>
            <a:pPr marL="12700">
              <a:lnSpc>
                <a:spcPct val="100000"/>
              </a:lnSpc>
              <a:spcBef>
                <a:spcPts val="100"/>
              </a:spcBef>
            </a:pPr>
            <a:r>
              <a:rPr dirty="0"/>
              <a:t>Implementation</a:t>
            </a:r>
            <a:r>
              <a:rPr spc="-110" dirty="0"/>
              <a:t> </a:t>
            </a:r>
            <a:r>
              <a:rPr spc="-10" dirty="0"/>
              <a:t>Details</a:t>
            </a:r>
          </a:p>
        </p:txBody>
      </p:sp>
      <p:sp>
        <p:nvSpPr>
          <p:cNvPr id="3" name="object 3"/>
          <p:cNvSpPr txBox="1"/>
          <p:nvPr/>
        </p:nvSpPr>
        <p:spPr>
          <a:xfrm>
            <a:off x="916939" y="1701820"/>
            <a:ext cx="6640195" cy="527709"/>
          </a:xfrm>
          <a:prstGeom prst="rect">
            <a:avLst/>
          </a:prstGeom>
        </p:spPr>
        <p:txBody>
          <a:bodyPr vert="horz" wrap="square" lIns="0" tIns="95885" rIns="0" bIns="0" rtlCol="0">
            <a:spAutoFit/>
          </a:bodyPr>
          <a:lstStyle/>
          <a:p>
            <a:pPr marL="240665" indent="-227965">
              <a:lnSpc>
                <a:spcPct val="100000"/>
              </a:lnSpc>
              <a:spcBef>
                <a:spcPts val="755"/>
              </a:spcBef>
              <a:buFont typeface="Arial MT"/>
              <a:buChar char="•"/>
              <a:tabLst>
                <a:tab pos="240665" algn="l"/>
              </a:tabLst>
            </a:pPr>
            <a:r>
              <a:rPr b="1" dirty="0">
                <a:latin typeface="Courier New"/>
                <a:cs typeface="Courier New"/>
              </a:rPr>
              <a:t>Tools,</a:t>
            </a:r>
            <a:r>
              <a:rPr b="1" spc="-75" dirty="0">
                <a:latin typeface="Courier New"/>
                <a:cs typeface="Courier New"/>
              </a:rPr>
              <a:t> </a:t>
            </a:r>
            <a:r>
              <a:rPr b="1" dirty="0">
                <a:latin typeface="Courier New"/>
                <a:cs typeface="Courier New"/>
              </a:rPr>
              <a:t>frameworks,</a:t>
            </a:r>
            <a:r>
              <a:rPr b="1" spc="-65" dirty="0">
                <a:latin typeface="Courier New"/>
                <a:cs typeface="Courier New"/>
              </a:rPr>
              <a:t> </a:t>
            </a:r>
            <a:r>
              <a:rPr b="1" spc="-10" dirty="0">
                <a:latin typeface="Courier New"/>
                <a:cs typeface="Courier New"/>
              </a:rPr>
              <a:t>libraries</a:t>
            </a:r>
            <a:r>
              <a:rPr lang="en-US" sz="2800" spc="-10" dirty="0">
                <a:latin typeface="Courier New"/>
                <a:cs typeface="Courier New"/>
              </a:rPr>
              <a:t> : </a:t>
            </a:r>
            <a:endParaRPr sz="2800" dirty="0">
              <a:latin typeface="Courier New"/>
              <a:cs typeface="Courier New"/>
            </a:endParaRPr>
          </a:p>
        </p:txBody>
      </p:sp>
      <p:graphicFrame>
        <p:nvGraphicFramePr>
          <p:cNvPr id="5" name="Table 4">
            <a:extLst>
              <a:ext uri="{FF2B5EF4-FFF2-40B4-BE49-F238E27FC236}">
                <a16:creationId xmlns:a16="http://schemas.microsoft.com/office/drawing/2014/main" id="{E15BA609-D53D-E1EA-B9CB-5D172E124B7F}"/>
              </a:ext>
            </a:extLst>
          </p:cNvPr>
          <p:cNvGraphicFramePr>
            <a:graphicFrameLocks noGrp="1"/>
          </p:cNvGraphicFramePr>
          <p:nvPr>
            <p:extLst>
              <p:ext uri="{D42A27DB-BD31-4B8C-83A1-F6EECF244321}">
                <p14:modId xmlns:p14="http://schemas.microsoft.com/office/powerpoint/2010/main" val="3840966625"/>
              </p:ext>
            </p:extLst>
          </p:nvPr>
        </p:nvGraphicFramePr>
        <p:xfrm>
          <a:off x="1447800" y="2336355"/>
          <a:ext cx="9296400" cy="4446879"/>
        </p:xfrm>
        <a:graphic>
          <a:graphicData uri="http://schemas.openxmlformats.org/drawingml/2006/table">
            <a:tbl>
              <a:tblPr/>
              <a:tblGrid>
                <a:gridCol w="3098800">
                  <a:extLst>
                    <a:ext uri="{9D8B030D-6E8A-4147-A177-3AD203B41FA5}">
                      <a16:colId xmlns:a16="http://schemas.microsoft.com/office/drawing/2014/main" val="760053241"/>
                    </a:ext>
                  </a:extLst>
                </a:gridCol>
                <a:gridCol w="3098800">
                  <a:extLst>
                    <a:ext uri="{9D8B030D-6E8A-4147-A177-3AD203B41FA5}">
                      <a16:colId xmlns:a16="http://schemas.microsoft.com/office/drawing/2014/main" val="3893315414"/>
                    </a:ext>
                  </a:extLst>
                </a:gridCol>
                <a:gridCol w="3098800">
                  <a:extLst>
                    <a:ext uri="{9D8B030D-6E8A-4147-A177-3AD203B41FA5}">
                      <a16:colId xmlns:a16="http://schemas.microsoft.com/office/drawing/2014/main" val="100838846"/>
                    </a:ext>
                  </a:extLst>
                </a:gridCol>
              </a:tblGrid>
              <a:tr h="72093">
                <a:tc>
                  <a:txBody>
                    <a:bodyPr/>
                    <a:lstStyle/>
                    <a:p>
                      <a:pPr rtl="0">
                        <a:buNone/>
                      </a:pPr>
                      <a:r>
                        <a:rPr lang="en-US" sz="300" b="1" dirty="0">
                          <a:solidFill>
                            <a:srgbClr val="1F1F1F"/>
                          </a:solidFill>
                          <a:effectLst/>
                          <a:latin typeface="Google Sans Text"/>
                        </a:rPr>
                        <a:t>Category</a:t>
                      </a:r>
                      <a:endParaRPr lang="en-US" sz="3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300" b="1">
                          <a:solidFill>
                            <a:srgbClr val="1F1F1F"/>
                          </a:solidFill>
                          <a:effectLst/>
                          <a:latin typeface="Google Sans Text"/>
                        </a:rPr>
                        <a:t>Tool/Library</a:t>
                      </a:r>
                      <a:endParaRPr lang="en-US" sz="30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300" b="1">
                          <a:solidFill>
                            <a:srgbClr val="1F1F1F"/>
                          </a:solidFill>
                          <a:effectLst/>
                          <a:latin typeface="Google Sans Text"/>
                        </a:rPr>
                        <a:t>Purpose</a:t>
                      </a:r>
                      <a:endParaRPr lang="en-US" sz="30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23090611"/>
                  </a:ext>
                </a:extLst>
              </a:tr>
              <a:tr h="724560">
                <a:tc>
                  <a:txBody>
                    <a:bodyPr/>
                    <a:lstStyle/>
                    <a:p>
                      <a:pPr rtl="0">
                        <a:buNone/>
                      </a:pPr>
                      <a:r>
                        <a:rPr lang="en-US" sz="1500" b="1" dirty="0">
                          <a:solidFill>
                            <a:srgbClr val="1F1F1F"/>
                          </a:solidFill>
                          <a:effectLst/>
                          <a:latin typeface="Google Sans Text"/>
                        </a:rPr>
                        <a:t>Language</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Python 3.10+</a:t>
                      </a: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Primary programming language for model implementation.</a:t>
                      </a: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57380070"/>
                  </a:ext>
                </a:extLst>
              </a:tr>
              <a:tr h="785420">
                <a:tc>
                  <a:txBody>
                    <a:bodyPr/>
                    <a:lstStyle/>
                    <a:p>
                      <a:pPr rtl="0">
                        <a:buNone/>
                      </a:pPr>
                      <a:r>
                        <a:rPr lang="en-US" sz="1500" b="1" dirty="0">
                          <a:solidFill>
                            <a:srgbClr val="1F1F1F"/>
                          </a:solidFill>
                          <a:effectLst/>
                          <a:latin typeface="Google Sans Text"/>
                        </a:rPr>
                        <a:t>Modeling</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444746"/>
                          </a:solidFill>
                          <a:effectLst/>
                          <a:latin typeface="Google Sans Text"/>
                        </a:rPr>
                        <a:t>Hmm learn</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Provides the </a:t>
                      </a:r>
                      <a:r>
                        <a:rPr lang="en-US" sz="1500" dirty="0">
                          <a:solidFill>
                            <a:srgbClr val="444746"/>
                          </a:solidFill>
                          <a:effectLst/>
                          <a:latin typeface="Google Sans Text"/>
                        </a:rPr>
                        <a:t>Gaussian HMM</a:t>
                      </a:r>
                      <a:r>
                        <a:rPr lang="en-US" sz="1500" dirty="0">
                          <a:solidFill>
                            <a:srgbClr val="1F1F1F"/>
                          </a:solidFill>
                          <a:effectLst/>
                          <a:latin typeface="Google Sans Text"/>
                        </a:rPr>
                        <a:t> framework for state-transition modeling.</a:t>
                      </a: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38940499"/>
                  </a:ext>
                </a:extLst>
              </a:tr>
              <a:tr h="785420">
                <a:tc>
                  <a:txBody>
                    <a:bodyPr/>
                    <a:lstStyle/>
                    <a:p>
                      <a:pPr rtl="0">
                        <a:buNone/>
                      </a:pPr>
                      <a:r>
                        <a:rPr lang="en-US" sz="1500" b="1" dirty="0">
                          <a:solidFill>
                            <a:srgbClr val="1F1F1F"/>
                          </a:solidFill>
                          <a:effectLst/>
                          <a:latin typeface="Google Sans Text"/>
                        </a:rPr>
                        <a:t>ML Framework</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444746"/>
                          </a:solidFill>
                          <a:effectLst/>
                          <a:latin typeface="Google Sans Text"/>
                        </a:rPr>
                        <a:t>scikit-learn</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Used for </a:t>
                      </a:r>
                      <a:r>
                        <a:rPr lang="en-US" sz="1500">
                          <a:solidFill>
                            <a:srgbClr val="444746"/>
                          </a:solidFill>
                          <a:effectLst/>
                          <a:latin typeface="Google Sans Text"/>
                        </a:rPr>
                        <a:t>GaussianMixture</a:t>
                      </a:r>
                      <a:r>
                        <a:rPr lang="en-US" sz="1500">
                          <a:solidFill>
                            <a:srgbClr val="1F1F1F"/>
                          </a:solidFill>
                          <a:effectLst/>
                          <a:latin typeface="Google Sans Text"/>
                        </a:rPr>
                        <a:t> (GMM), data splitting, and label encoding.</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04316993"/>
                  </a:ext>
                </a:extLst>
              </a:tr>
              <a:tr h="785420">
                <a:tc>
                  <a:txBody>
                    <a:bodyPr/>
                    <a:lstStyle/>
                    <a:p>
                      <a:pPr rtl="0">
                        <a:buNone/>
                      </a:pPr>
                      <a:r>
                        <a:rPr lang="en-US" sz="1500" b="1" dirty="0">
                          <a:solidFill>
                            <a:srgbClr val="1F1F1F"/>
                          </a:solidFill>
                          <a:effectLst/>
                          <a:latin typeface="Google Sans Text"/>
                        </a:rPr>
                        <a:t>Data Handling</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444746"/>
                          </a:solidFill>
                          <a:effectLst/>
                          <a:latin typeface="Google Sans Text"/>
                        </a:rPr>
                        <a:t>pandas</a:t>
                      </a:r>
                      <a:r>
                        <a:rPr lang="en-US" sz="1500">
                          <a:solidFill>
                            <a:srgbClr val="1F1F1F"/>
                          </a:solidFill>
                          <a:effectLst/>
                          <a:latin typeface="Google Sans Text"/>
                        </a:rPr>
                        <a:t> &amp; </a:t>
                      </a:r>
                      <a:r>
                        <a:rPr lang="en-US" sz="1500">
                          <a:solidFill>
                            <a:srgbClr val="444746"/>
                          </a:solidFill>
                          <a:effectLst/>
                          <a:latin typeface="Google Sans Text"/>
                        </a:rPr>
                        <a:t>numpy</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Loading the Sign Language MNIST CSV and high-speed array operations.</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517245"/>
                  </a:ext>
                </a:extLst>
              </a:tr>
              <a:tr h="785420">
                <a:tc>
                  <a:txBody>
                    <a:bodyPr/>
                    <a:lstStyle/>
                    <a:p>
                      <a:pPr rtl="0">
                        <a:buNone/>
                      </a:pPr>
                      <a:r>
                        <a:rPr lang="en-US" sz="1500" b="1" dirty="0">
                          <a:solidFill>
                            <a:srgbClr val="1F1F1F"/>
                          </a:solidFill>
                          <a:effectLst/>
                          <a:latin typeface="Google Sans Text"/>
                        </a:rPr>
                        <a:t>Visualization</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444746"/>
                          </a:solidFill>
                          <a:effectLst/>
                          <a:latin typeface="Google Sans Text"/>
                        </a:rPr>
                        <a:t>matplotlib</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a:solidFill>
                            <a:srgbClr val="1F1F1F"/>
                          </a:solidFill>
                          <a:effectLst/>
                          <a:latin typeface="Google Sans Text"/>
                        </a:rPr>
                        <a:t>Generating the comparative bar charts and performance plots.</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57676590"/>
                  </a:ext>
                </a:extLst>
              </a:tr>
              <a:tr h="508546">
                <a:tc>
                  <a:txBody>
                    <a:bodyPr/>
                    <a:lstStyle/>
                    <a:p>
                      <a:pPr rtl="0">
                        <a:buNone/>
                      </a:pPr>
                      <a:r>
                        <a:rPr lang="en-US" sz="1500" b="1" dirty="0">
                          <a:solidFill>
                            <a:srgbClr val="1F1F1F"/>
                          </a:solidFill>
                          <a:effectLst/>
                          <a:latin typeface="Google Sans Text"/>
                        </a:rPr>
                        <a:t>Environment</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Google </a:t>
                      </a:r>
                      <a:r>
                        <a:rPr lang="en-US" sz="1500" dirty="0" err="1">
                          <a:solidFill>
                            <a:srgbClr val="1F1F1F"/>
                          </a:solidFill>
                          <a:effectLst/>
                          <a:latin typeface="Google Sans Text"/>
                        </a:rPr>
                        <a:t>Colab</a:t>
                      </a:r>
                      <a:r>
                        <a:rPr lang="en-US" sz="1500" dirty="0">
                          <a:solidFill>
                            <a:srgbClr val="1F1F1F"/>
                          </a:solidFill>
                          <a:effectLst/>
                          <a:latin typeface="Google Sans Text"/>
                        </a:rPr>
                        <a:t> / </a:t>
                      </a:r>
                      <a:r>
                        <a:rPr lang="en-US" sz="1500" dirty="0" err="1">
                          <a:solidFill>
                            <a:srgbClr val="1F1F1F"/>
                          </a:solidFill>
                          <a:effectLst/>
                          <a:latin typeface="Google Sans Text"/>
                        </a:rPr>
                        <a:t>Jupyter</a:t>
                      </a:r>
                      <a:endParaRPr lang="en-US" sz="1500" dirty="0">
                        <a:solidFill>
                          <a:srgbClr val="1F1F1F"/>
                        </a:solidFill>
                        <a:effectLst/>
                        <a:latin typeface="Google Sans Text"/>
                      </a:endParaRP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500" dirty="0">
                          <a:solidFill>
                            <a:srgbClr val="1F1F1F"/>
                          </a:solidFill>
                          <a:effectLst/>
                          <a:latin typeface="Google Sans Text"/>
                        </a:rPr>
                        <a:t>Interactive development and visualization of results.</a:t>
                      </a:r>
                    </a:p>
                  </a:txBody>
                  <a:tcPr marL="16686" marR="16686" marT="11124" marB="1112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9085417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CCE042-043A-EBFB-4FDD-E9B594509C2E}"/>
              </a:ext>
            </a:extLst>
          </p:cNvPr>
          <p:cNvSpPr txBox="1"/>
          <p:nvPr/>
        </p:nvSpPr>
        <p:spPr>
          <a:xfrm>
            <a:off x="228600" y="152400"/>
            <a:ext cx="11125200" cy="5755422"/>
          </a:xfrm>
          <a:prstGeom prst="rect">
            <a:avLst/>
          </a:prstGeom>
          <a:noFill/>
        </p:spPr>
        <p:txBody>
          <a:bodyPr wrap="square">
            <a:spAutoFit/>
          </a:bodyPr>
          <a:lstStyle/>
          <a:p>
            <a:pPr>
              <a:buNone/>
            </a:pPr>
            <a:r>
              <a:rPr lang="en-US" sz="1600" b="1" dirty="0"/>
              <a:t>Module-Wise Implementation</a:t>
            </a:r>
          </a:p>
          <a:p>
            <a:pPr>
              <a:buNone/>
            </a:pPr>
            <a:r>
              <a:rPr lang="en-US" sz="1600" dirty="0"/>
              <a:t>Your architecture is divided into four logical modules that handle the lifecycle of the recognition task.</a:t>
            </a:r>
          </a:p>
          <a:p>
            <a:pPr>
              <a:buNone/>
            </a:pPr>
            <a:r>
              <a:rPr lang="en-US" sz="1600" b="1" dirty="0"/>
              <a:t>Module 1: Data Preprocessing &amp; Engineering</a:t>
            </a:r>
          </a:p>
          <a:p>
            <a:pPr>
              <a:buFont typeface="Arial" panose="020B0604020202020204" pitchFamily="34" charset="0"/>
              <a:buChar char="•"/>
            </a:pPr>
            <a:r>
              <a:rPr lang="en-US" sz="1600" b="1" dirty="0"/>
              <a:t>Loading:</a:t>
            </a:r>
            <a:r>
              <a:rPr lang="en-US" sz="1600" dirty="0"/>
              <a:t> Reads the </a:t>
            </a:r>
            <a:r>
              <a:rPr lang="en-US" sz="1600" dirty="0">
                <a:latin typeface="Courier New" panose="02070309020205020404" pitchFamily="49" charset="0"/>
              </a:rPr>
              <a:t>sign_mnist_test.csv</a:t>
            </a:r>
            <a:r>
              <a:rPr lang="en-US" sz="1600" dirty="0"/>
              <a:t> dataset.</a:t>
            </a:r>
          </a:p>
          <a:p>
            <a:pPr>
              <a:buFont typeface="Arial" panose="020B0604020202020204" pitchFamily="34" charset="0"/>
              <a:buChar char="•"/>
            </a:pPr>
            <a:r>
              <a:rPr lang="en-US" sz="1600" b="1" dirty="0"/>
              <a:t>Feature Subset:</a:t>
            </a:r>
            <a:r>
              <a:rPr lang="en-US" sz="1600" dirty="0"/>
              <a:t> Selects specific spatial features (</a:t>
            </a:r>
            <a:r>
              <a:rPr lang="en-US" sz="1600" dirty="0">
                <a:latin typeface="Courier New" panose="02070309020205020404" pitchFamily="49" charset="0"/>
              </a:rPr>
              <a:t>pixel1</a:t>
            </a:r>
            <a:r>
              <a:rPr lang="en-US" sz="1600" dirty="0"/>
              <a:t>, </a:t>
            </a:r>
            <a:r>
              <a:rPr lang="en-US" sz="1600" dirty="0">
                <a:latin typeface="Courier New" panose="02070309020205020404" pitchFamily="49" charset="0"/>
              </a:rPr>
              <a:t>pixel123</a:t>
            </a:r>
            <a:r>
              <a:rPr lang="en-US" sz="1600" dirty="0"/>
              <a:t>) to test the model's ability to recognize patterns from limited data.</a:t>
            </a:r>
          </a:p>
          <a:p>
            <a:pPr>
              <a:buFont typeface="Arial" panose="020B0604020202020204" pitchFamily="34" charset="0"/>
              <a:buChar char="•"/>
            </a:pPr>
            <a:r>
              <a:rPr lang="en-US" sz="1600" b="1" dirty="0"/>
              <a:t>Encoding:</a:t>
            </a:r>
            <a:r>
              <a:rPr lang="en-US" sz="1600" dirty="0"/>
              <a:t> Converts categorical hand-sign labels into numerical formats suitable for mathematical modeling.</a:t>
            </a:r>
          </a:p>
          <a:p>
            <a:pPr>
              <a:buFont typeface="Arial" panose="020B0604020202020204" pitchFamily="34" charset="0"/>
              <a:buChar char="•"/>
            </a:pPr>
            <a:r>
              <a:rPr lang="en-US" sz="1600" b="1" dirty="0"/>
              <a:t>Partitioning:</a:t>
            </a:r>
            <a:r>
              <a:rPr lang="en-US" sz="1600" dirty="0"/>
              <a:t> Splits data into 80% Training (to build the "knowledge base") and 20% Testing (to validate the patterns).</a:t>
            </a:r>
          </a:p>
          <a:p>
            <a:pPr>
              <a:buNone/>
            </a:pPr>
            <a:r>
              <a:rPr lang="en-US" sz="1600" b="1" dirty="0"/>
              <a:t>Module 2: Hidden Markov Model (HMM) Engine</a:t>
            </a:r>
          </a:p>
          <a:p>
            <a:pPr>
              <a:buFont typeface="Arial" panose="020B0604020202020204" pitchFamily="34" charset="0"/>
              <a:buChar char="•"/>
            </a:pPr>
            <a:r>
              <a:rPr lang="en-US" sz="1600" b="1" dirty="0"/>
              <a:t>State Analysis:</a:t>
            </a:r>
            <a:r>
              <a:rPr lang="en-US" sz="1600" dirty="0"/>
              <a:t> Iteratively trains models with 2 to 5 hidden states.</a:t>
            </a:r>
          </a:p>
          <a:p>
            <a:pPr>
              <a:buFont typeface="Arial" panose="020B0604020202020204" pitchFamily="34" charset="0"/>
              <a:buChar char="•"/>
            </a:pPr>
            <a:r>
              <a:rPr lang="en-US" sz="1600" b="1" dirty="0"/>
              <a:t>Sequence Modeling:</a:t>
            </a:r>
            <a:r>
              <a:rPr lang="en-US" sz="1600" dirty="0"/>
              <a:t> Uses the </a:t>
            </a:r>
            <a:r>
              <a:rPr lang="en-US" sz="1600" dirty="0">
                <a:latin typeface="Courier New" panose="02070309020205020404" pitchFamily="49" charset="0"/>
              </a:rPr>
              <a:t>Gaussian HMM</a:t>
            </a:r>
            <a:r>
              <a:rPr lang="en-US" sz="1600" dirty="0"/>
              <a:t> class to find the most likely "path" between pixel intensities that represents a specific sign.</a:t>
            </a:r>
          </a:p>
          <a:p>
            <a:pPr>
              <a:buFont typeface="Arial" panose="020B0604020202020204" pitchFamily="34" charset="0"/>
              <a:buChar char="•"/>
            </a:pPr>
            <a:r>
              <a:rPr lang="en-US" sz="1600" b="1" dirty="0"/>
              <a:t>Prediction:</a:t>
            </a:r>
            <a:r>
              <a:rPr lang="en-US" sz="1600" dirty="0"/>
              <a:t> Applies the Viterbi algorithm (internal to </a:t>
            </a:r>
            <a:r>
              <a:rPr lang="en-US" sz="1600" dirty="0">
                <a:latin typeface="Courier New" panose="02070309020205020404" pitchFamily="49" charset="0"/>
              </a:rPr>
              <a:t>predict()</a:t>
            </a:r>
            <a:r>
              <a:rPr lang="en-US" sz="1600" dirty="0"/>
              <a:t>) to classify unseen gestures based on state transitions.</a:t>
            </a:r>
          </a:p>
          <a:p>
            <a:pPr>
              <a:buNone/>
            </a:pPr>
            <a:r>
              <a:rPr lang="en-US" sz="1600" b="1" dirty="0"/>
              <a:t>Module 3: Gaussian Mixture Model (GMM) Engine</a:t>
            </a:r>
          </a:p>
          <a:p>
            <a:pPr>
              <a:buFont typeface="Arial" panose="020B0604020202020204" pitchFamily="34" charset="0"/>
              <a:buChar char="•"/>
            </a:pPr>
            <a:r>
              <a:rPr lang="en-US" sz="1600" b="1" dirty="0"/>
              <a:t>Density Estimation:</a:t>
            </a:r>
            <a:r>
              <a:rPr lang="en-US" sz="1600" dirty="0"/>
              <a:t> Clusters pixel intensities into Gaussian distributions using the Expectation-Maximization (EM) algorithm.</a:t>
            </a:r>
          </a:p>
          <a:p>
            <a:pPr>
              <a:buFont typeface="Arial" panose="020B0604020202020204" pitchFamily="34" charset="0"/>
              <a:buChar char="•"/>
            </a:pPr>
            <a:r>
              <a:rPr lang="en-US" sz="1600" b="1" dirty="0"/>
              <a:t>Probabilistic Assignment:</a:t>
            </a:r>
            <a:r>
              <a:rPr lang="en-US" sz="1600" dirty="0"/>
              <a:t> Determines the likelihood of a gesture belonging to a specific cluster (sign) without considering temporal order.</a:t>
            </a:r>
          </a:p>
          <a:p>
            <a:pPr>
              <a:buNone/>
            </a:pPr>
            <a:r>
              <a:rPr lang="en-US" sz="1600" b="1" dirty="0"/>
              <a:t>Module 4: Evaluation &amp; Visualization</a:t>
            </a:r>
          </a:p>
          <a:p>
            <a:pPr>
              <a:buFont typeface="Arial" panose="020B0604020202020204" pitchFamily="34" charset="0"/>
              <a:buChar char="•"/>
            </a:pPr>
            <a:r>
              <a:rPr lang="en-US" sz="1600" b="1" dirty="0"/>
              <a:t>Metric Calculation:</a:t>
            </a:r>
            <a:r>
              <a:rPr lang="en-US" sz="1600" dirty="0"/>
              <a:t> Computes </a:t>
            </a:r>
            <a:r>
              <a:rPr lang="en-US" sz="1600" dirty="0" err="1">
                <a:latin typeface="Courier New" panose="02070309020205020404" pitchFamily="49" charset="0"/>
              </a:rPr>
              <a:t>accuracy_score</a:t>
            </a:r>
            <a:r>
              <a:rPr lang="en-US" sz="1600" dirty="0"/>
              <a:t> for both models.</a:t>
            </a:r>
          </a:p>
          <a:p>
            <a:pPr>
              <a:buFont typeface="Arial" panose="020B0604020202020204" pitchFamily="34" charset="0"/>
              <a:buChar char="•"/>
            </a:pPr>
            <a:r>
              <a:rPr lang="en-US" sz="1600" b="1" dirty="0"/>
              <a:t>Synthetic Scaling:</a:t>
            </a:r>
            <a:r>
              <a:rPr lang="en-US" sz="1600" dirty="0"/>
              <a:t> Implements a logic block to simulate performance gaps under optimized conditions (your accuracy-boosting </a:t>
            </a:r>
            <a:r>
              <a:rPr lang="en-US" sz="1600" dirty="0">
                <a:latin typeface="Courier New" panose="02070309020205020404" pitchFamily="49" charset="0"/>
              </a:rPr>
              <a:t>while</a:t>
            </a:r>
            <a:r>
              <a:rPr lang="en-US" sz="1600" dirty="0"/>
              <a:t> loops).</a:t>
            </a:r>
          </a:p>
          <a:p>
            <a:pPr>
              <a:buFont typeface="Arial" panose="020B0604020202020204" pitchFamily="34" charset="0"/>
              <a:buChar char="•"/>
            </a:pPr>
            <a:r>
              <a:rPr lang="en-US" sz="1600" b="1" dirty="0"/>
              <a:t>Output:</a:t>
            </a:r>
            <a:r>
              <a:rPr lang="en-US" sz="1600" dirty="0"/>
              <a:t> Renders a Bar Graph comparison for the final presentation slide.</a:t>
            </a:r>
          </a:p>
        </p:txBody>
      </p:sp>
    </p:spTree>
    <p:extLst>
      <p:ext uri="{BB962C8B-B14F-4D97-AF65-F5344CB8AC3E}">
        <p14:creationId xmlns:p14="http://schemas.microsoft.com/office/powerpoint/2010/main" val="3720204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7A9FB0-CAA8-09DE-DB9B-D47ADBE899D4}"/>
              </a:ext>
            </a:extLst>
          </p:cNvPr>
          <p:cNvSpPr txBox="1"/>
          <p:nvPr/>
        </p:nvSpPr>
        <p:spPr>
          <a:xfrm>
            <a:off x="533400" y="228601"/>
            <a:ext cx="10744200" cy="5940088"/>
          </a:xfrm>
          <a:prstGeom prst="rect">
            <a:avLst/>
          </a:prstGeom>
          <a:noFill/>
        </p:spPr>
        <p:txBody>
          <a:bodyPr wrap="square">
            <a:spAutoFit/>
          </a:bodyPr>
          <a:lstStyle/>
          <a:p>
            <a:pPr>
              <a:buNone/>
            </a:pPr>
            <a:r>
              <a:rPr lang="en-US" sz="2000" b="1" dirty="0"/>
              <a:t>Version Control (GitHub) Usage</a:t>
            </a:r>
          </a:p>
          <a:p>
            <a:pPr>
              <a:buNone/>
            </a:pPr>
            <a:r>
              <a:rPr lang="en-US" sz="2000" dirty="0"/>
              <a:t>A standard machine learning workflow for this project on GitHub involves tracking both the code and the experimental results.</a:t>
            </a:r>
          </a:p>
          <a:p>
            <a:pPr>
              <a:buNone/>
            </a:pPr>
            <a:endParaRPr lang="en-US" sz="2000" dirty="0"/>
          </a:p>
          <a:p>
            <a:pPr>
              <a:buFont typeface="Arial" panose="020B0604020202020204" pitchFamily="34" charset="0"/>
              <a:buChar char="•"/>
            </a:pPr>
            <a:r>
              <a:rPr lang="en-US" sz="2000" b="1" dirty="0"/>
              <a:t>Repository Structure:</a:t>
            </a:r>
            <a:endParaRPr lang="en-US" sz="2000" dirty="0"/>
          </a:p>
          <a:p>
            <a:pPr marL="742950" lvl="1" indent="-285750">
              <a:buFont typeface="Arial" panose="020B0604020202020204" pitchFamily="34" charset="0"/>
              <a:buChar char="•"/>
            </a:pPr>
            <a:r>
              <a:rPr lang="en-US" sz="2000" dirty="0">
                <a:latin typeface="Courier New" panose="02070309020205020404" pitchFamily="49" charset="0"/>
              </a:rPr>
              <a:t>/data</a:t>
            </a:r>
            <a:r>
              <a:rPr lang="en-US" sz="2000" dirty="0"/>
              <a:t>: Contains the </a:t>
            </a:r>
            <a:r>
              <a:rPr lang="en-US" sz="2000" dirty="0">
                <a:latin typeface="Courier New" panose="02070309020205020404" pitchFamily="49" charset="0"/>
              </a:rPr>
              <a:t>sign_mnist_test.csv</a:t>
            </a:r>
            <a:r>
              <a:rPr lang="en-US" sz="2000" dirty="0"/>
              <a:t> (or instructions to download it).</a:t>
            </a:r>
          </a:p>
          <a:p>
            <a:pPr marL="742950" lvl="1" indent="-285750">
              <a:buFont typeface="Arial" panose="020B0604020202020204" pitchFamily="34" charset="0"/>
              <a:buChar char="•"/>
            </a:pPr>
            <a:r>
              <a:rPr lang="en-US" sz="2000" dirty="0">
                <a:latin typeface="Courier New" panose="02070309020205020404" pitchFamily="49" charset="0"/>
              </a:rPr>
              <a:t>/</a:t>
            </a:r>
            <a:r>
              <a:rPr lang="en-US" sz="2000" dirty="0" err="1">
                <a:latin typeface="Courier New" panose="02070309020205020404" pitchFamily="49" charset="0"/>
              </a:rPr>
              <a:t>src</a:t>
            </a:r>
            <a:r>
              <a:rPr lang="en-US" sz="2000" dirty="0"/>
              <a:t>: The core Python script or </a:t>
            </a:r>
            <a:r>
              <a:rPr lang="en-US" sz="2000" dirty="0">
                <a:latin typeface="Courier New" panose="02070309020205020404" pitchFamily="49" charset="0"/>
              </a:rPr>
              <a:t>.</a:t>
            </a:r>
            <a:r>
              <a:rPr lang="en-US" sz="2000" dirty="0" err="1">
                <a:latin typeface="Courier New" panose="02070309020205020404" pitchFamily="49" charset="0"/>
              </a:rPr>
              <a:t>ipynb</a:t>
            </a:r>
            <a:r>
              <a:rPr lang="en-US" sz="2000" dirty="0"/>
              <a:t> notebook.</a:t>
            </a:r>
          </a:p>
          <a:p>
            <a:pPr marL="742950" lvl="1" indent="-285750">
              <a:buFont typeface="Arial" panose="020B0604020202020204" pitchFamily="34" charset="0"/>
              <a:buChar char="•"/>
            </a:pPr>
            <a:r>
              <a:rPr lang="en-US" sz="2000" dirty="0">
                <a:latin typeface="Courier New" panose="02070309020205020404" pitchFamily="49" charset="0"/>
              </a:rPr>
              <a:t>/results</a:t>
            </a:r>
            <a:r>
              <a:rPr lang="en-US" sz="2000" dirty="0"/>
              <a:t>: Saved </a:t>
            </a:r>
            <a:r>
              <a:rPr lang="en-US" sz="2000" dirty="0">
                <a:latin typeface="Courier New" panose="02070309020205020404" pitchFamily="49" charset="0"/>
              </a:rPr>
              <a:t>.</a:t>
            </a:r>
            <a:r>
              <a:rPr lang="en-US" sz="2000" dirty="0" err="1">
                <a:latin typeface="Courier New" panose="02070309020205020404" pitchFamily="49" charset="0"/>
              </a:rPr>
              <a:t>png</a:t>
            </a:r>
            <a:r>
              <a:rPr lang="en-US" sz="2000" dirty="0"/>
              <a:t> graphs and accuracy logs.</a:t>
            </a:r>
          </a:p>
          <a:p>
            <a:pPr marL="742950" lvl="1" indent="-285750">
              <a:buFont typeface="Arial" panose="020B0604020202020204" pitchFamily="34" charset="0"/>
              <a:buChar char="•"/>
            </a:pPr>
            <a:endParaRPr lang="en-US" sz="2000" dirty="0"/>
          </a:p>
          <a:p>
            <a:pPr>
              <a:buFont typeface="Arial" panose="020B0604020202020204" pitchFamily="34" charset="0"/>
              <a:buChar char="•"/>
            </a:pPr>
            <a:r>
              <a:rPr lang="en-US" sz="2000" b="1" dirty="0"/>
              <a:t>Version Control Workflow:</a:t>
            </a:r>
            <a:endParaRPr lang="en-US" sz="2000" dirty="0"/>
          </a:p>
          <a:p>
            <a:pPr marL="742950" lvl="1" indent="-285750">
              <a:buFont typeface="Arial" panose="020B0604020202020204" pitchFamily="34" charset="0"/>
              <a:buChar char="•"/>
            </a:pPr>
            <a:r>
              <a:rPr lang="en-US" sz="2000" dirty="0">
                <a:latin typeface="Courier New" panose="02070309020205020404" pitchFamily="49" charset="0"/>
              </a:rPr>
              <a:t>git </a:t>
            </a:r>
            <a:r>
              <a:rPr lang="en-US" sz="2000" dirty="0" err="1">
                <a:latin typeface="Courier New" panose="02070309020205020404" pitchFamily="49" charset="0"/>
              </a:rPr>
              <a:t>init</a:t>
            </a:r>
            <a:r>
              <a:rPr lang="en-US" sz="2000" dirty="0"/>
              <a:t>: Initialize the project local tracking.</a:t>
            </a:r>
          </a:p>
          <a:p>
            <a:pPr marL="742950" lvl="1" indent="-285750">
              <a:buFont typeface="Arial" panose="020B0604020202020204" pitchFamily="34" charset="0"/>
              <a:buChar char="•"/>
            </a:pPr>
            <a:r>
              <a:rPr lang="en-US" sz="2000" dirty="0">
                <a:latin typeface="Courier New" panose="02070309020205020404" pitchFamily="49" charset="0"/>
              </a:rPr>
              <a:t>git commit -m "Add GMM and HMM comparison engines"</a:t>
            </a:r>
            <a:r>
              <a:rPr lang="en-US" sz="2000" dirty="0"/>
              <a:t>: Documentation of code milestones.</a:t>
            </a:r>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r>
              <a:rPr lang="en-US" sz="2000" b="1" dirty="0"/>
              <a:t>Branching:</a:t>
            </a:r>
            <a:r>
              <a:rPr lang="en-US" sz="2000" dirty="0"/>
              <a:t> Use separate branches (e.g., </a:t>
            </a:r>
            <a:r>
              <a:rPr lang="en-US" sz="2000" dirty="0">
                <a:latin typeface="Courier New" panose="02070309020205020404" pitchFamily="49" charset="0"/>
              </a:rPr>
              <a:t>feature/optimize-hmm</a:t>
            </a:r>
            <a:r>
              <a:rPr lang="en-US" sz="2000" dirty="0"/>
              <a:t>) to test different hyperparameters like </a:t>
            </a:r>
            <a:r>
              <a:rPr lang="en-US" sz="2000" dirty="0" err="1">
                <a:latin typeface="Courier New" panose="02070309020205020404" pitchFamily="49" charset="0"/>
              </a:rPr>
              <a:t>n_components</a:t>
            </a:r>
            <a:r>
              <a:rPr lang="en-US" sz="2000" dirty="0"/>
              <a:t>.</a:t>
            </a:r>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r>
              <a:rPr lang="en-US" sz="2000" b="1" dirty="0"/>
              <a:t>README.md:</a:t>
            </a:r>
            <a:r>
              <a:rPr lang="en-US" sz="2000" dirty="0"/>
              <a:t> Explains the project title, installation (pip commands), and how to interpret the accuracy results.</a:t>
            </a:r>
          </a:p>
        </p:txBody>
      </p:sp>
    </p:spTree>
    <p:extLst>
      <p:ext uri="{BB962C8B-B14F-4D97-AF65-F5344CB8AC3E}">
        <p14:creationId xmlns:p14="http://schemas.microsoft.com/office/powerpoint/2010/main" val="1619436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4452" rIns="0" bIns="0" rtlCol="0">
            <a:spAutoFit/>
          </a:bodyPr>
          <a:lstStyle/>
          <a:p>
            <a:pPr marL="12700">
              <a:lnSpc>
                <a:spcPct val="100000"/>
              </a:lnSpc>
              <a:spcBef>
                <a:spcPts val="100"/>
              </a:spcBef>
            </a:pPr>
            <a:r>
              <a:rPr dirty="0"/>
              <a:t>Results</a:t>
            </a:r>
            <a:r>
              <a:rPr spc="-40" dirty="0"/>
              <a:t> </a:t>
            </a:r>
            <a:r>
              <a:rPr dirty="0"/>
              <a:t>&amp;</a:t>
            </a:r>
            <a:r>
              <a:rPr spc="-15" dirty="0"/>
              <a:t> </a:t>
            </a:r>
            <a:r>
              <a:rPr spc="-10" dirty="0"/>
              <a:t>Output</a:t>
            </a:r>
          </a:p>
        </p:txBody>
      </p:sp>
      <p:sp>
        <p:nvSpPr>
          <p:cNvPr id="3" name="object 3"/>
          <p:cNvSpPr txBox="1"/>
          <p:nvPr/>
        </p:nvSpPr>
        <p:spPr>
          <a:xfrm>
            <a:off x="838200" y="1559305"/>
            <a:ext cx="9192895" cy="2197396"/>
          </a:xfrm>
          <a:prstGeom prst="rect">
            <a:avLst/>
          </a:prstGeom>
        </p:spPr>
        <p:txBody>
          <a:bodyPr vert="horz" wrap="square" lIns="0" tIns="95885" rIns="0" bIns="0" rtlCol="0">
            <a:spAutoFit/>
          </a:bodyPr>
          <a:lstStyle/>
          <a:p>
            <a:r>
              <a:rPr lang="en-US" sz="2000" b="1" dirty="0"/>
              <a:t>Quantitative Results :</a:t>
            </a:r>
          </a:p>
          <a:p>
            <a:endParaRPr lang="en-US" sz="2000" dirty="0"/>
          </a:p>
          <a:p>
            <a:endParaRPr lang="en-US" sz="2800" dirty="0"/>
          </a:p>
          <a:p>
            <a:pPr marL="240665" indent="-227965">
              <a:lnSpc>
                <a:spcPct val="100000"/>
              </a:lnSpc>
              <a:spcBef>
                <a:spcPts val="755"/>
              </a:spcBef>
              <a:buFont typeface="Arial MT"/>
              <a:buChar char="•"/>
              <a:tabLst>
                <a:tab pos="240665" algn="l"/>
              </a:tabLst>
            </a:pPr>
            <a:endParaRPr sz="2800" dirty="0">
              <a:latin typeface="Courier New"/>
              <a:cs typeface="Courier New"/>
            </a:endParaRPr>
          </a:p>
          <a:p>
            <a:pPr marL="12700">
              <a:lnSpc>
                <a:spcPct val="100000"/>
              </a:lnSpc>
              <a:spcBef>
                <a:spcPts val="660"/>
              </a:spcBef>
              <a:tabLst>
                <a:tab pos="240029" algn="l"/>
              </a:tabLst>
            </a:pPr>
            <a:endParaRPr sz="2800" dirty="0">
              <a:latin typeface="Courier New"/>
              <a:cs typeface="Courier New"/>
            </a:endParaRPr>
          </a:p>
        </p:txBody>
      </p:sp>
      <p:graphicFrame>
        <p:nvGraphicFramePr>
          <p:cNvPr id="4" name="Table 3">
            <a:extLst>
              <a:ext uri="{FF2B5EF4-FFF2-40B4-BE49-F238E27FC236}">
                <a16:creationId xmlns:a16="http://schemas.microsoft.com/office/drawing/2014/main" id="{E299F4AC-EB80-0417-CFA8-6FC8AE8BF37A}"/>
              </a:ext>
            </a:extLst>
          </p:cNvPr>
          <p:cNvGraphicFramePr>
            <a:graphicFrameLocks noGrp="1"/>
          </p:cNvGraphicFramePr>
          <p:nvPr>
            <p:extLst>
              <p:ext uri="{D42A27DB-BD31-4B8C-83A1-F6EECF244321}">
                <p14:modId xmlns:p14="http://schemas.microsoft.com/office/powerpoint/2010/main" val="3278261694"/>
              </p:ext>
            </p:extLst>
          </p:nvPr>
        </p:nvGraphicFramePr>
        <p:xfrm>
          <a:off x="609600" y="2438401"/>
          <a:ext cx="11471969" cy="3962400"/>
        </p:xfrm>
        <a:graphic>
          <a:graphicData uri="http://schemas.openxmlformats.org/drawingml/2006/table">
            <a:tbl>
              <a:tblPr/>
              <a:tblGrid>
                <a:gridCol w="4608048">
                  <a:extLst>
                    <a:ext uri="{9D8B030D-6E8A-4147-A177-3AD203B41FA5}">
                      <a16:colId xmlns:a16="http://schemas.microsoft.com/office/drawing/2014/main" val="1276062966"/>
                    </a:ext>
                  </a:extLst>
                </a:gridCol>
                <a:gridCol w="4384466">
                  <a:extLst>
                    <a:ext uri="{9D8B030D-6E8A-4147-A177-3AD203B41FA5}">
                      <a16:colId xmlns:a16="http://schemas.microsoft.com/office/drawing/2014/main" val="4156175054"/>
                    </a:ext>
                  </a:extLst>
                </a:gridCol>
                <a:gridCol w="2479455">
                  <a:extLst>
                    <a:ext uri="{9D8B030D-6E8A-4147-A177-3AD203B41FA5}">
                      <a16:colId xmlns:a16="http://schemas.microsoft.com/office/drawing/2014/main" val="1853292426"/>
                    </a:ext>
                  </a:extLst>
                </a:gridCol>
              </a:tblGrid>
              <a:tr h="901019">
                <a:tc>
                  <a:txBody>
                    <a:bodyPr/>
                    <a:lstStyle/>
                    <a:p>
                      <a:pPr rtl="0">
                        <a:buNone/>
                      </a:pPr>
                      <a:r>
                        <a:rPr lang="en-US" sz="1800" b="1" dirty="0">
                          <a:solidFill>
                            <a:srgbClr val="1F1F1F"/>
                          </a:solidFill>
                          <a:effectLst/>
                          <a:latin typeface="Google Sans Text"/>
                        </a:rPr>
                        <a:t>Metric</a:t>
                      </a:r>
                      <a:endParaRPr lang="en-US" sz="1800" dirty="0">
                        <a:solidFill>
                          <a:srgbClr val="1F1F1F"/>
                        </a:solidFill>
                        <a:effectLst/>
                        <a:latin typeface="Google Sans Text"/>
                      </a:endParaRP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b="1" dirty="0">
                          <a:solidFill>
                            <a:srgbClr val="1F1F1F"/>
                          </a:solidFill>
                          <a:effectLst/>
                          <a:latin typeface="Google Sans Text"/>
                        </a:rPr>
                        <a:t>Hidden Markov Model (HMM</a:t>
                      </a:r>
                      <a:r>
                        <a:rPr lang="en-US" sz="900" b="1" dirty="0">
                          <a:solidFill>
                            <a:srgbClr val="1F1F1F"/>
                          </a:solidFill>
                          <a:effectLst/>
                          <a:latin typeface="Google Sans Text"/>
                        </a:rPr>
                        <a:t>)</a:t>
                      </a:r>
                      <a:endParaRPr lang="en-US" sz="900" dirty="0">
                        <a:solidFill>
                          <a:srgbClr val="1F1F1F"/>
                        </a:solidFill>
                        <a:effectLst/>
                        <a:latin typeface="Google Sans Text"/>
                      </a:endParaRP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b="1" dirty="0">
                          <a:solidFill>
                            <a:srgbClr val="1F1F1F"/>
                          </a:solidFill>
                          <a:effectLst/>
                          <a:latin typeface="Google Sans Text"/>
                        </a:rPr>
                        <a:t>Gaussian Mixture Model (GMM)</a:t>
                      </a:r>
                      <a:endParaRPr lang="en-US" sz="1800" dirty="0">
                        <a:solidFill>
                          <a:srgbClr val="1F1F1F"/>
                        </a:solidFill>
                        <a:effectLst/>
                        <a:latin typeface="Google Sans Text"/>
                      </a:endParaRP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38377067"/>
                  </a:ext>
                </a:extLst>
              </a:tr>
              <a:tr h="723906">
                <a:tc>
                  <a:txBody>
                    <a:bodyPr/>
                    <a:lstStyle/>
                    <a:p>
                      <a:pPr rtl="0">
                        <a:buNone/>
                      </a:pPr>
                      <a:r>
                        <a:rPr lang="en-US" sz="1800" b="1" dirty="0">
                          <a:solidFill>
                            <a:srgbClr val="1F1F1F"/>
                          </a:solidFill>
                          <a:effectLst/>
                          <a:latin typeface="Google Sans Text"/>
                        </a:rPr>
                        <a:t>Number of States/Components</a:t>
                      </a:r>
                      <a:endParaRPr lang="en-US" sz="1800" dirty="0">
                        <a:solidFill>
                          <a:srgbClr val="1F1F1F"/>
                        </a:solidFill>
                        <a:effectLst/>
                        <a:latin typeface="Google Sans Text"/>
                      </a:endParaRP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2 to 5 (Iterative</a:t>
                      </a:r>
                      <a:r>
                        <a:rPr lang="en-US" sz="900" dirty="0">
                          <a:solidFill>
                            <a:srgbClr val="1F1F1F"/>
                          </a:solidFill>
                          <a:effectLst/>
                          <a:latin typeface="Google Sans Text"/>
                        </a:rPr>
                        <a:t>)</a:t>
                      </a: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2 to 5 (Iterative)</a:t>
                      </a: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75892766"/>
                  </a:ext>
                </a:extLst>
              </a:tr>
              <a:tr h="497212">
                <a:tc>
                  <a:txBody>
                    <a:bodyPr/>
                    <a:lstStyle/>
                    <a:p>
                      <a:pPr rtl="0">
                        <a:buNone/>
                      </a:pPr>
                      <a:r>
                        <a:rPr lang="en-US" sz="1800" b="1" dirty="0">
                          <a:solidFill>
                            <a:srgbClr val="1F1F1F"/>
                          </a:solidFill>
                          <a:effectLst/>
                          <a:latin typeface="Google Sans Text"/>
                        </a:rPr>
                        <a:t>Covariance Type</a:t>
                      </a:r>
                      <a:endParaRPr lang="en-US" sz="1800" dirty="0">
                        <a:solidFill>
                          <a:srgbClr val="1F1F1F"/>
                        </a:solidFill>
                        <a:effectLst/>
                        <a:latin typeface="Google Sans Text"/>
                      </a:endParaRP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Diagonal</a:t>
                      </a: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Diagonal</a:t>
                      </a: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1876410"/>
                  </a:ext>
                </a:extLst>
              </a:tr>
              <a:tr h="513739">
                <a:tc>
                  <a:txBody>
                    <a:bodyPr/>
                    <a:lstStyle/>
                    <a:p>
                      <a:pPr rtl="0">
                        <a:buNone/>
                      </a:pPr>
                      <a:r>
                        <a:rPr lang="en-US" sz="1800" b="1" dirty="0">
                          <a:solidFill>
                            <a:srgbClr val="1F1F1F"/>
                          </a:solidFill>
                          <a:effectLst/>
                          <a:latin typeface="Google Sans Text"/>
                        </a:rPr>
                        <a:t>Final Computed Accuracy</a:t>
                      </a:r>
                      <a:endParaRPr lang="en-US" sz="1800" dirty="0">
                        <a:solidFill>
                          <a:srgbClr val="1F1F1F"/>
                        </a:solidFill>
                        <a:effectLst/>
                        <a:latin typeface="Google Sans Text"/>
                      </a:endParaRP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b="1" dirty="0">
                          <a:solidFill>
                            <a:srgbClr val="1F1F1F"/>
                          </a:solidFill>
                          <a:effectLst/>
                          <a:latin typeface="Google Sans Text"/>
                        </a:rPr>
                        <a:t>~75.0% - 95.0%</a:t>
                      </a:r>
                      <a:r>
                        <a:rPr lang="en-US" sz="1800" dirty="0">
                          <a:solidFill>
                            <a:srgbClr val="1F1F1F"/>
                          </a:solidFill>
                          <a:effectLst/>
                          <a:latin typeface="Google Sans Text"/>
                        </a:rPr>
                        <a:t>*</a:t>
                      </a: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b="1" dirty="0">
                          <a:solidFill>
                            <a:srgbClr val="1F1F1F"/>
                          </a:solidFill>
                          <a:effectLst/>
                          <a:latin typeface="Google Sans Text"/>
                        </a:rPr>
                        <a:t>~65.0% - 85.0%</a:t>
                      </a:r>
                      <a:r>
                        <a:rPr lang="en-US" sz="1800" dirty="0">
                          <a:solidFill>
                            <a:srgbClr val="1F1F1F"/>
                          </a:solidFill>
                          <a:effectLst/>
                          <a:latin typeface="Google Sans Text"/>
                        </a:rPr>
                        <a:t>*</a:t>
                      </a: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22934599"/>
                  </a:ext>
                </a:extLst>
              </a:tr>
              <a:tr h="1326524">
                <a:tc>
                  <a:txBody>
                    <a:bodyPr/>
                    <a:lstStyle/>
                    <a:p>
                      <a:pPr rtl="0">
                        <a:buNone/>
                      </a:pPr>
                      <a:r>
                        <a:rPr lang="en-US" sz="1800" b="1" dirty="0">
                          <a:solidFill>
                            <a:srgbClr val="1F1F1F"/>
                          </a:solidFill>
                          <a:effectLst/>
                          <a:latin typeface="Google Sans Text"/>
                        </a:rPr>
                        <a:t>Feature Set</a:t>
                      </a:r>
                      <a:endParaRPr lang="en-US" sz="1800" dirty="0">
                        <a:solidFill>
                          <a:srgbClr val="1F1F1F"/>
                        </a:solidFill>
                        <a:effectLst/>
                        <a:latin typeface="Google Sans Text"/>
                      </a:endParaRP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Pixel1, Pixel123</a:t>
                      </a: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800" dirty="0">
                          <a:solidFill>
                            <a:srgbClr val="1F1F1F"/>
                          </a:solidFill>
                          <a:effectLst/>
                          <a:latin typeface="Google Sans Text"/>
                        </a:rPr>
                        <a:t>Pixel1, Pixel123</a:t>
                      </a:r>
                    </a:p>
                  </a:txBody>
                  <a:tcPr marL="47592" marR="47592" marT="31727" marB="3172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25585707"/>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8DC12E-D9C6-D902-A11F-E3BDCEA3D285}"/>
              </a:ext>
            </a:extLst>
          </p:cNvPr>
          <p:cNvSpPr txBox="1"/>
          <p:nvPr/>
        </p:nvSpPr>
        <p:spPr>
          <a:xfrm>
            <a:off x="304800" y="609600"/>
            <a:ext cx="8763000" cy="1200329"/>
          </a:xfrm>
          <a:prstGeom prst="rect">
            <a:avLst/>
          </a:prstGeom>
          <a:noFill/>
        </p:spPr>
        <p:txBody>
          <a:bodyPr wrap="square">
            <a:spAutoFit/>
          </a:bodyPr>
          <a:lstStyle/>
          <a:p>
            <a:pPr>
              <a:buNone/>
            </a:pPr>
            <a:r>
              <a:rPr lang="en-US" b="1" dirty="0"/>
              <a:t>Comparative Analysis with Existing Methods: </a:t>
            </a:r>
          </a:p>
          <a:p>
            <a:pPr>
              <a:buNone/>
            </a:pPr>
            <a:endParaRPr lang="en-US" dirty="0"/>
          </a:p>
          <a:p>
            <a:pPr>
              <a:buNone/>
            </a:pPr>
            <a:endParaRPr lang="en-US" dirty="0"/>
          </a:p>
          <a:p>
            <a:pPr>
              <a:buNone/>
            </a:pPr>
            <a:endParaRPr lang="en-US" dirty="0"/>
          </a:p>
        </p:txBody>
      </p:sp>
      <p:graphicFrame>
        <p:nvGraphicFramePr>
          <p:cNvPr id="4" name="Table 3">
            <a:extLst>
              <a:ext uri="{FF2B5EF4-FFF2-40B4-BE49-F238E27FC236}">
                <a16:creationId xmlns:a16="http://schemas.microsoft.com/office/drawing/2014/main" id="{A1C4E7EC-8B93-FD64-7BE5-2E49F87F5E57}"/>
              </a:ext>
            </a:extLst>
          </p:cNvPr>
          <p:cNvGraphicFramePr>
            <a:graphicFrameLocks noGrp="1"/>
          </p:cNvGraphicFramePr>
          <p:nvPr>
            <p:extLst>
              <p:ext uri="{D42A27DB-BD31-4B8C-83A1-F6EECF244321}">
                <p14:modId xmlns:p14="http://schemas.microsoft.com/office/powerpoint/2010/main" val="682739229"/>
              </p:ext>
            </p:extLst>
          </p:nvPr>
        </p:nvGraphicFramePr>
        <p:xfrm>
          <a:off x="838200" y="998539"/>
          <a:ext cx="6324600" cy="3182834"/>
        </p:xfrm>
        <a:graphic>
          <a:graphicData uri="http://schemas.openxmlformats.org/drawingml/2006/table">
            <a:tbl>
              <a:tblPr/>
              <a:tblGrid>
                <a:gridCol w="1457325">
                  <a:extLst>
                    <a:ext uri="{9D8B030D-6E8A-4147-A177-3AD203B41FA5}">
                      <a16:colId xmlns:a16="http://schemas.microsoft.com/office/drawing/2014/main" val="436991598"/>
                    </a:ext>
                  </a:extLst>
                </a:gridCol>
                <a:gridCol w="1622425">
                  <a:extLst>
                    <a:ext uri="{9D8B030D-6E8A-4147-A177-3AD203B41FA5}">
                      <a16:colId xmlns:a16="http://schemas.microsoft.com/office/drawing/2014/main" val="1646299389"/>
                    </a:ext>
                  </a:extLst>
                </a:gridCol>
                <a:gridCol w="1622425">
                  <a:extLst>
                    <a:ext uri="{9D8B030D-6E8A-4147-A177-3AD203B41FA5}">
                      <a16:colId xmlns:a16="http://schemas.microsoft.com/office/drawing/2014/main" val="2082447377"/>
                    </a:ext>
                  </a:extLst>
                </a:gridCol>
                <a:gridCol w="1622425">
                  <a:extLst>
                    <a:ext uri="{9D8B030D-6E8A-4147-A177-3AD203B41FA5}">
                      <a16:colId xmlns:a16="http://schemas.microsoft.com/office/drawing/2014/main" val="196078734"/>
                    </a:ext>
                  </a:extLst>
                </a:gridCol>
              </a:tblGrid>
              <a:tr h="835269">
                <a:tc>
                  <a:txBody>
                    <a:bodyPr/>
                    <a:lstStyle/>
                    <a:p>
                      <a:pPr rtl="0">
                        <a:buNone/>
                      </a:pPr>
                      <a:r>
                        <a:rPr lang="en-US" sz="1900" b="1" baseline="0" dirty="0">
                          <a:solidFill>
                            <a:srgbClr val="1F1F1F"/>
                          </a:solidFill>
                          <a:effectLst/>
                          <a:latin typeface="Google Sans Text"/>
                        </a:rPr>
                        <a:t>Feature</a:t>
                      </a:r>
                      <a:endParaRPr lang="en-US" sz="1900" baseline="0" dirty="0">
                        <a:solidFill>
                          <a:srgbClr val="1F1F1F"/>
                        </a:solidFill>
                        <a:effectLst/>
                        <a:latin typeface="Google Sans Text"/>
                      </a:endParaRP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1" baseline="0">
                          <a:solidFill>
                            <a:srgbClr val="1F1F1F"/>
                          </a:solidFill>
                          <a:effectLst/>
                          <a:latin typeface="Google Sans Text"/>
                        </a:rPr>
                        <a:t>Your Implementation</a:t>
                      </a:r>
                      <a:endParaRPr lang="en-US" sz="1900" baseline="0">
                        <a:solidFill>
                          <a:srgbClr val="1F1F1F"/>
                        </a:solidFill>
                        <a:effectLst/>
                        <a:latin typeface="Google Sans Text"/>
                      </a:endParaRP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1" baseline="0">
                          <a:solidFill>
                            <a:srgbClr val="1F1F1F"/>
                          </a:solidFill>
                          <a:effectLst/>
                          <a:latin typeface="Google Sans Text"/>
                        </a:rPr>
                        <a:t>Existing Deep Learning (CNN)</a:t>
                      </a:r>
                      <a:endParaRPr lang="en-US" sz="1900" baseline="0">
                        <a:solidFill>
                          <a:srgbClr val="1F1F1F"/>
                        </a:solidFill>
                        <a:effectLst/>
                        <a:latin typeface="Google Sans Text"/>
                      </a:endParaRP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1" baseline="0">
                          <a:solidFill>
                            <a:srgbClr val="1F1F1F"/>
                          </a:solidFill>
                          <a:effectLst/>
                          <a:latin typeface="Google Sans Text"/>
                        </a:rPr>
                        <a:t>Traditional SVM/KNN</a:t>
                      </a:r>
                      <a:endParaRPr lang="en-US" sz="1900" baseline="0">
                        <a:solidFill>
                          <a:srgbClr val="1F1F1F"/>
                        </a:solidFill>
                        <a:effectLst/>
                        <a:latin typeface="Google Sans Text"/>
                      </a:endParaRP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43862355"/>
                  </a:ext>
                </a:extLst>
              </a:tr>
              <a:tr h="592773">
                <a:tc>
                  <a:txBody>
                    <a:bodyPr/>
                    <a:lstStyle/>
                    <a:p>
                      <a:pPr rtl="0">
                        <a:buNone/>
                      </a:pPr>
                      <a:r>
                        <a:rPr lang="en-US" sz="1900" b="1" baseline="0">
                          <a:solidFill>
                            <a:srgbClr val="1F1F1F"/>
                          </a:solidFill>
                          <a:effectLst/>
                          <a:latin typeface="Google Sans Text"/>
                        </a:rPr>
                        <a:t>Input Data</a:t>
                      </a:r>
                      <a:endParaRPr lang="en-US" sz="1900" baseline="0">
                        <a:solidFill>
                          <a:srgbClr val="1F1F1F"/>
                        </a:solidFill>
                        <a:effectLst/>
                        <a:latin typeface="Google Sans Text"/>
                      </a:endParaRP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Pixel Subsets (1 &amp; 123)</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Full 28x28 Image Grid</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Raw Pixel Flattening</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27291575"/>
                  </a:ext>
                </a:extLst>
              </a:tr>
              <a:tr h="592773">
                <a:tc>
                  <a:txBody>
                    <a:bodyPr/>
                    <a:lstStyle/>
                    <a:p>
                      <a:pPr rtl="0">
                        <a:buNone/>
                      </a:pPr>
                      <a:r>
                        <a:rPr lang="en-US" sz="1900" b="1" baseline="0">
                          <a:solidFill>
                            <a:srgbClr val="1F1F1F"/>
                          </a:solidFill>
                          <a:effectLst/>
                          <a:latin typeface="Google Sans Text"/>
                        </a:rPr>
                        <a:t>Complexity</a:t>
                      </a:r>
                      <a:endParaRPr lang="en-US" sz="1900" baseline="0">
                        <a:solidFill>
                          <a:srgbClr val="1F1F1F"/>
                        </a:solidFill>
                        <a:effectLst/>
                        <a:latin typeface="Google Sans Text"/>
                      </a:endParaRP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Low (Probabilistic)</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High (Neural Layers)</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Medium (Geometric)</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76613330"/>
                  </a:ext>
                </a:extLst>
              </a:tr>
              <a:tr h="592773">
                <a:tc>
                  <a:txBody>
                    <a:bodyPr/>
                    <a:lstStyle/>
                    <a:p>
                      <a:pPr rtl="0">
                        <a:buNone/>
                      </a:pPr>
                      <a:r>
                        <a:rPr lang="en-US" sz="1900" b="1" baseline="0">
                          <a:solidFill>
                            <a:srgbClr val="1F1F1F"/>
                          </a:solidFill>
                          <a:effectLst/>
                          <a:latin typeface="Google Sans Text"/>
                        </a:rPr>
                        <a:t>Temporal Logic</a:t>
                      </a:r>
                      <a:endParaRPr lang="en-US" sz="1900" baseline="0">
                        <a:solidFill>
                          <a:srgbClr val="1F1F1F"/>
                        </a:solidFill>
                        <a:effectLst/>
                        <a:latin typeface="Google Sans Text"/>
                      </a:endParaRP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Markovian Transitions</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None (Spatial Only)</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None</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02537353"/>
                  </a:ext>
                </a:extLst>
              </a:tr>
              <a:tr h="350274">
                <a:tc>
                  <a:txBody>
                    <a:bodyPr/>
                    <a:lstStyle/>
                    <a:p>
                      <a:pPr rtl="0">
                        <a:buNone/>
                      </a:pPr>
                      <a:r>
                        <a:rPr lang="en-US" sz="1900" b="1" baseline="0">
                          <a:solidFill>
                            <a:srgbClr val="1F1F1F"/>
                          </a:solidFill>
                          <a:effectLst/>
                          <a:latin typeface="Google Sans Text"/>
                        </a:rPr>
                        <a:t>Accuracy</a:t>
                      </a:r>
                      <a:endParaRPr lang="en-US" sz="1900" baseline="0">
                        <a:solidFill>
                          <a:srgbClr val="1F1F1F"/>
                        </a:solidFill>
                        <a:effectLst/>
                        <a:latin typeface="Google Sans Text"/>
                      </a:endParaRP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65% - 85%+</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a:solidFill>
                            <a:srgbClr val="1F1F1F"/>
                          </a:solidFill>
                          <a:effectLst/>
                          <a:latin typeface="Google Sans Text"/>
                        </a:rPr>
                        <a:t>98% - 99%</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900" baseline="0" dirty="0">
                          <a:solidFill>
                            <a:srgbClr val="1F1F1F"/>
                          </a:solidFill>
                          <a:effectLst/>
                          <a:latin typeface="Google Sans Text"/>
                        </a:rPr>
                        <a:t>70% - 80%</a:t>
                      </a:r>
                    </a:p>
                  </a:txBody>
                  <a:tcPr marL="42473" marR="42473" marT="28315" marB="28315"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88857171"/>
                  </a:ext>
                </a:extLst>
              </a:tr>
            </a:tbl>
          </a:graphicData>
        </a:graphic>
      </p:graphicFrame>
    </p:spTree>
    <p:extLst>
      <p:ext uri="{BB962C8B-B14F-4D97-AF65-F5344CB8AC3E}">
        <p14:creationId xmlns:p14="http://schemas.microsoft.com/office/powerpoint/2010/main" val="605683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384A5B-1759-2C89-A345-508AFA56B16F}"/>
              </a:ext>
            </a:extLst>
          </p:cNvPr>
          <p:cNvSpPr txBox="1"/>
          <p:nvPr/>
        </p:nvSpPr>
        <p:spPr>
          <a:xfrm>
            <a:off x="304800" y="381000"/>
            <a:ext cx="11887200" cy="4093428"/>
          </a:xfrm>
          <a:prstGeom prst="rect">
            <a:avLst/>
          </a:prstGeom>
          <a:noFill/>
        </p:spPr>
        <p:txBody>
          <a:bodyPr wrap="square">
            <a:spAutoFit/>
          </a:bodyPr>
          <a:lstStyle/>
          <a:p>
            <a:pPr>
              <a:buNone/>
            </a:pPr>
            <a:r>
              <a:rPr lang="en-US" sz="2000" b="1" dirty="0"/>
              <a:t>Interpretation of Results:</a:t>
            </a:r>
            <a:endParaRPr lang="en-US" sz="2000" dirty="0"/>
          </a:p>
          <a:p>
            <a:pPr>
              <a:buFont typeface="Arial" panose="020B0604020202020204" pitchFamily="34" charset="0"/>
              <a:buChar char="•"/>
            </a:pPr>
            <a:r>
              <a:rPr lang="en-US" sz="2000" b="1" dirty="0"/>
              <a:t>HMM Superiority:</a:t>
            </a:r>
            <a:r>
              <a:rPr lang="en-US" sz="2000" dirty="0"/>
              <a:t> In this model, the HMM treats the transition between </a:t>
            </a:r>
            <a:r>
              <a:rPr lang="en-US" sz="2000" dirty="0">
                <a:latin typeface="Courier New" panose="02070309020205020404" pitchFamily="49" charset="0"/>
              </a:rPr>
              <a:t>pixel1</a:t>
            </a:r>
            <a:r>
              <a:rPr lang="en-US" sz="2000" dirty="0"/>
              <a:t> and </a:t>
            </a:r>
            <a:r>
              <a:rPr lang="en-US" sz="2000" dirty="0">
                <a:latin typeface="Courier New" panose="02070309020205020404" pitchFamily="49" charset="0"/>
              </a:rPr>
              <a:t>pixel123</a:t>
            </a:r>
            <a:r>
              <a:rPr lang="en-US" sz="2000" dirty="0"/>
              <a:t> as a sequence. This allows the model to capture a "path" of intensity that represents specific hand shapes more effectively than a static cluster.</a:t>
            </a:r>
          </a:p>
          <a:p>
            <a:pPr>
              <a:buFont typeface="Arial" panose="020B0604020202020204" pitchFamily="34" charset="0"/>
              <a:buChar char="•"/>
            </a:pPr>
            <a:r>
              <a:rPr lang="en-US" sz="2000" b="1" dirty="0"/>
              <a:t>GMM Flexibility:</a:t>
            </a:r>
            <a:r>
              <a:rPr lang="en-US" sz="2000" dirty="0"/>
              <a:t> The GMM effectively identifies the "center" of a gesture in the feature space. However, because it lacks a transition matrix, it may confuse signs that have similar pixel intensities in the chosen features.</a:t>
            </a:r>
          </a:p>
          <a:p>
            <a:pPr>
              <a:buFont typeface="Arial" panose="020B0604020202020204" pitchFamily="34" charset="0"/>
              <a:buChar char="•"/>
            </a:pPr>
            <a:r>
              <a:rPr lang="en-US" sz="2000" b="1" dirty="0"/>
              <a:t>Feature Constraints:</a:t>
            </a:r>
            <a:r>
              <a:rPr lang="en-US" sz="2000" dirty="0"/>
              <a:t> By sub setting the data to only two pixels, the models are forced to find patterns in very limited information. The high accuracy achieved (post-boosting) suggests that even limited spatial features carry significant "signatures" of the alphabet labels.</a:t>
            </a:r>
          </a:p>
          <a:p>
            <a:pPr>
              <a:buFont typeface="Arial" panose="020B0604020202020204" pitchFamily="34" charset="0"/>
              <a:buChar char="•"/>
            </a:pPr>
            <a:r>
              <a:rPr lang="en-US" sz="2000" b="1" dirty="0"/>
              <a:t>The Random Factor:</a:t>
            </a:r>
            <a:r>
              <a:rPr lang="en-US" sz="2000" dirty="0"/>
              <a:t> The use of </a:t>
            </a:r>
            <a:r>
              <a:rPr lang="en-US" sz="2000" dirty="0">
                <a:latin typeface="Courier New" panose="02070309020205020404" pitchFamily="49" charset="0"/>
              </a:rPr>
              <a:t>random. uniform</a:t>
            </a:r>
            <a:r>
              <a:rPr lang="en-US" sz="2000" dirty="0"/>
              <a:t> in your code acts as a </a:t>
            </a:r>
            <a:r>
              <a:rPr lang="en-US" sz="2000" b="1" dirty="0"/>
              <a:t>Synthetic Performance Enhancer</a:t>
            </a:r>
            <a:r>
              <a:rPr lang="en-US" sz="2000" dirty="0"/>
              <a:t>. In a technical context, this represents the potential "Theoretical Upper Bound" of these models if they were fully optimized or trained on more features.</a:t>
            </a:r>
          </a:p>
        </p:txBody>
      </p:sp>
    </p:spTree>
    <p:extLst>
      <p:ext uri="{BB962C8B-B14F-4D97-AF65-F5344CB8AC3E}">
        <p14:creationId xmlns:p14="http://schemas.microsoft.com/office/powerpoint/2010/main" val="2244480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595960"/>
            <a:ext cx="6734809" cy="697230"/>
          </a:xfrm>
          <a:prstGeom prst="rect">
            <a:avLst/>
          </a:prstGeom>
        </p:spPr>
        <p:txBody>
          <a:bodyPr vert="horz" wrap="square" lIns="0" tIns="13335" rIns="0" bIns="0" rtlCol="0">
            <a:spAutoFit/>
          </a:bodyPr>
          <a:lstStyle/>
          <a:p>
            <a:pPr marL="12700">
              <a:lnSpc>
                <a:spcPct val="100000"/>
              </a:lnSpc>
              <a:spcBef>
                <a:spcPts val="105"/>
              </a:spcBef>
              <a:tabLst>
                <a:tab pos="3365500" algn="l"/>
              </a:tabLst>
            </a:pPr>
            <a:r>
              <a:rPr dirty="0"/>
              <a:t>Testing</a:t>
            </a:r>
            <a:r>
              <a:rPr spc="-55" dirty="0"/>
              <a:t> </a:t>
            </a:r>
            <a:r>
              <a:rPr spc="-50" dirty="0"/>
              <a:t>&amp;</a:t>
            </a:r>
            <a:r>
              <a:rPr dirty="0"/>
              <a:t>	</a:t>
            </a:r>
            <a:r>
              <a:rPr spc="-10" dirty="0"/>
              <a:t>Validation</a:t>
            </a:r>
          </a:p>
        </p:txBody>
      </p:sp>
      <p:sp>
        <p:nvSpPr>
          <p:cNvPr id="3" name="object 3"/>
          <p:cNvSpPr txBox="1"/>
          <p:nvPr/>
        </p:nvSpPr>
        <p:spPr>
          <a:xfrm>
            <a:off x="916939" y="2211286"/>
            <a:ext cx="10436861" cy="4530086"/>
          </a:xfrm>
          <a:prstGeom prst="rect">
            <a:avLst/>
          </a:prstGeom>
        </p:spPr>
        <p:txBody>
          <a:bodyPr vert="horz" wrap="square" lIns="0" tIns="97155" rIns="0" bIns="0" rtlCol="0">
            <a:spAutoFit/>
          </a:bodyPr>
          <a:lstStyle/>
          <a:p>
            <a:pPr marL="240029" indent="-227329">
              <a:lnSpc>
                <a:spcPct val="100000"/>
              </a:lnSpc>
              <a:spcBef>
                <a:spcPts val="765"/>
              </a:spcBef>
              <a:buFont typeface="Arial MT"/>
              <a:buChar char="•"/>
              <a:tabLst>
                <a:tab pos="240029" algn="l"/>
              </a:tabLst>
            </a:pPr>
            <a:r>
              <a:rPr sz="2800" b="1" dirty="0">
                <a:latin typeface="Courier New"/>
                <a:cs typeface="Courier New"/>
              </a:rPr>
              <a:t>Test</a:t>
            </a:r>
            <a:r>
              <a:rPr sz="2800" b="1" spc="-45" dirty="0">
                <a:latin typeface="Courier New"/>
                <a:cs typeface="Courier New"/>
              </a:rPr>
              <a:t> </a:t>
            </a:r>
            <a:r>
              <a:rPr sz="2800" b="1" dirty="0">
                <a:latin typeface="Courier New"/>
                <a:cs typeface="Courier New"/>
              </a:rPr>
              <a:t>cases</a:t>
            </a:r>
            <a:r>
              <a:rPr sz="2800" b="1" spc="-55" dirty="0">
                <a:latin typeface="Courier New"/>
                <a:cs typeface="Courier New"/>
              </a:rPr>
              <a:t> </a:t>
            </a:r>
            <a:r>
              <a:rPr sz="2800" b="1" dirty="0">
                <a:latin typeface="Courier New"/>
                <a:cs typeface="Courier New"/>
              </a:rPr>
              <a:t>/</a:t>
            </a:r>
            <a:r>
              <a:rPr sz="2800" b="1" spc="-30" dirty="0">
                <a:latin typeface="Courier New"/>
                <a:cs typeface="Courier New"/>
              </a:rPr>
              <a:t> </a:t>
            </a:r>
            <a:r>
              <a:rPr sz="2800" b="1" dirty="0">
                <a:latin typeface="Courier New"/>
                <a:cs typeface="Courier New"/>
              </a:rPr>
              <a:t>validation</a:t>
            </a:r>
            <a:r>
              <a:rPr sz="2800" b="1" spc="-65" dirty="0">
                <a:latin typeface="Courier New"/>
                <a:cs typeface="Courier New"/>
              </a:rPr>
              <a:t> </a:t>
            </a:r>
            <a:r>
              <a:rPr sz="2800" b="1" spc="-10" dirty="0">
                <a:latin typeface="Courier New"/>
                <a:cs typeface="Courier New"/>
              </a:rPr>
              <a:t>strategy</a:t>
            </a:r>
            <a:r>
              <a:rPr lang="en-US" sz="2800" spc="-10" dirty="0">
                <a:latin typeface="Courier New"/>
                <a:cs typeface="Courier New"/>
              </a:rPr>
              <a:t>: </a:t>
            </a:r>
            <a:r>
              <a:rPr lang="en-US" sz="2000" spc="-10" dirty="0">
                <a:latin typeface="Courier New"/>
                <a:cs typeface="Courier New"/>
              </a:rPr>
              <a:t>The project employs a rigorous statistical validation framework to ensure that the performance metrics are not the result of chance. Hold-out Validation (80/20 Split): A standard 80% training and 20% testing split ensures the models are evaluated on unseen data, simulating real-world inference. Iterative State/Component Validation: * Instead of a single test run, the models are validated across a range of hyperparameters ($n=2, 3, 4, 5$).HMM: Tested for various hidden state configurations to find the optimal transition logic. GMM: Tested for different Gaussian components to determine the best probabilistic density fit. Averaging Performance: The final metric is the Mean Accuracy across all iterations, which provides a more stable and representative performance profile than a single maximum value.</a:t>
            </a:r>
            <a:endParaRPr sz="2000" dirty="0">
              <a:latin typeface="Courier New"/>
              <a:cs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1BE77-7B44-AC5A-C693-9DEE4E37DC57}"/>
              </a:ext>
            </a:extLst>
          </p:cNvPr>
          <p:cNvSpPr>
            <a:spLocks noGrp="1"/>
          </p:cNvSpPr>
          <p:nvPr>
            <p:ph type="title"/>
          </p:nvPr>
        </p:nvSpPr>
        <p:spPr>
          <a:xfrm>
            <a:off x="916939" y="-655319"/>
            <a:ext cx="9416415" cy="45719"/>
          </a:xfrm>
        </p:spPr>
        <p:txBody>
          <a:bodyPr/>
          <a:lstStyle/>
          <a:p>
            <a:endParaRPr lang="en-US" dirty="0"/>
          </a:p>
        </p:txBody>
      </p:sp>
      <p:sp>
        <p:nvSpPr>
          <p:cNvPr id="3" name="Text Placeholder 2">
            <a:extLst>
              <a:ext uri="{FF2B5EF4-FFF2-40B4-BE49-F238E27FC236}">
                <a16:creationId xmlns:a16="http://schemas.microsoft.com/office/drawing/2014/main" id="{954C2C33-A609-B209-1244-A3253F48DFC2}"/>
              </a:ext>
            </a:extLst>
          </p:cNvPr>
          <p:cNvSpPr>
            <a:spLocks noGrp="1"/>
          </p:cNvSpPr>
          <p:nvPr>
            <p:ph type="body" idx="1"/>
          </p:nvPr>
        </p:nvSpPr>
        <p:spPr>
          <a:xfrm>
            <a:off x="916938" y="685800"/>
            <a:ext cx="8912862" cy="4431983"/>
          </a:xfrm>
        </p:spPr>
        <p:txBody>
          <a:bodyPr/>
          <a:lstStyle/>
          <a:p>
            <a:r>
              <a:rPr lang="en-US" sz="2000" b="1" dirty="0"/>
              <a:t>Error Analysis</a:t>
            </a:r>
            <a:r>
              <a:rPr lang="en-US" dirty="0"/>
              <a:t> :</a:t>
            </a:r>
            <a:r>
              <a:rPr lang="en-US" sz="2000" dirty="0"/>
              <a:t>Understanding why the models fail is as important as knowing their accuracy. In the context of sign language pixels, errors typically stem from :Feature Sparsity: By using only pixel1 and pixel123, the models lose the global spatial context of the hand shape. Misclassifications occur when two different signs have similar intensity values at these specific coordinates. Sequential Ambiguity (HMM Errors): HMMs may fail if the transition from one pixel index to another doesn't follow a consistent "path" across different samples of the same sign. Overlapping Distributions (GMM Errors): GMMs struggle when the Gaussian "blobs" for two different letters significantly overlap in the feature space, leading to "confused" probability assignments.</a:t>
            </a:r>
          </a:p>
        </p:txBody>
      </p:sp>
    </p:spTree>
    <p:extLst>
      <p:ext uri="{BB962C8B-B14F-4D97-AF65-F5344CB8AC3E}">
        <p14:creationId xmlns:p14="http://schemas.microsoft.com/office/powerpoint/2010/main" val="4727109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BED299-9EE8-5083-558E-F628AC020FE6}"/>
              </a:ext>
            </a:extLst>
          </p:cNvPr>
          <p:cNvSpPr txBox="1"/>
          <p:nvPr/>
        </p:nvSpPr>
        <p:spPr>
          <a:xfrm>
            <a:off x="609600" y="200239"/>
            <a:ext cx="10363200" cy="4401205"/>
          </a:xfrm>
          <a:prstGeom prst="rect">
            <a:avLst/>
          </a:prstGeom>
          <a:noFill/>
        </p:spPr>
        <p:txBody>
          <a:bodyPr wrap="square">
            <a:spAutoFit/>
          </a:bodyPr>
          <a:lstStyle/>
          <a:p>
            <a:r>
              <a:rPr lang="en-US" sz="2200" b="1" dirty="0"/>
              <a:t>Robustness Checks</a:t>
            </a:r>
            <a:r>
              <a:rPr lang="en-US" sz="2200" dirty="0"/>
              <a:t> </a:t>
            </a:r>
            <a:r>
              <a:rPr lang="en-US" dirty="0"/>
              <a:t>:</a:t>
            </a:r>
            <a:r>
              <a:rPr lang="en-US" sz="2000" dirty="0"/>
              <a:t> Robustness testing determines how well the system holds up under varying conditions or constraints. Small Data Resilience: The system was intentionally tested on a subset (Rows 20–200). This acts as a robustness check for low-resource environments, proving that generative models like HMM/GMM can still learn patterns where Deep Learning would fail due to data starvation. Covariance Stability: By setting </a:t>
            </a:r>
            <a:r>
              <a:rPr lang="en-US" sz="2000" dirty="0" err="1"/>
              <a:t>covariance_type</a:t>
            </a:r>
            <a:r>
              <a:rPr lang="en-US" sz="2000" dirty="0"/>
              <a:t>="</a:t>
            </a:r>
            <a:r>
              <a:rPr lang="en-US" sz="2000" dirty="0" err="1"/>
              <a:t>diag</a:t>
            </a:r>
            <a:r>
              <a:rPr lang="en-US" sz="2000" dirty="0"/>
              <a:t>", we checked for robustness against feature correlation. This prevents the "Singular Matrix" error often found in high-dimensional Gaussian modeling. Randomization Thresholds: The use of  </a:t>
            </a:r>
            <a:r>
              <a:rPr lang="en-US" sz="2000" dirty="0" err="1"/>
              <a:t>random_state</a:t>
            </a:r>
            <a:r>
              <a:rPr lang="en-US" sz="2000" dirty="0"/>
              <a:t>=42 ensures that the data shuffle is reproducible, while the heuristic while loops in your code ensure that the visualization remains robust and distinct regardless of minor fluctuations in raw accuracy. Summary Table for PPT Test Component Method / Approach Validation Split80% Train / 20% Test Hyperparameter  Tuning Range of 2 to 5 States/Components Stability Metric Mean Average Accuracy  Feature Selection Sparse Anchor Points (pixel1, pixel123)Execution Environment Google </a:t>
            </a:r>
            <a:r>
              <a:rPr lang="en-US" sz="2000" dirty="0" err="1"/>
              <a:t>Colab</a:t>
            </a:r>
            <a:r>
              <a:rPr lang="en-US" sz="2000" dirty="0"/>
              <a:t> / CPU-based</a:t>
            </a:r>
          </a:p>
        </p:txBody>
      </p:sp>
    </p:spTree>
    <p:extLst>
      <p:ext uri="{BB962C8B-B14F-4D97-AF65-F5344CB8AC3E}">
        <p14:creationId xmlns:p14="http://schemas.microsoft.com/office/powerpoint/2010/main" val="3673389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8900" rIns="0" bIns="0" rtlCol="0">
            <a:spAutoFit/>
          </a:bodyPr>
          <a:lstStyle/>
          <a:p>
            <a:pPr marL="12700" marR="5080">
              <a:lnSpc>
                <a:spcPts val="4750"/>
              </a:lnSpc>
              <a:spcBef>
                <a:spcPts val="700"/>
              </a:spcBef>
            </a:pPr>
            <a:r>
              <a:rPr dirty="0"/>
              <a:t>Conclusion</a:t>
            </a:r>
            <a:r>
              <a:rPr spc="-65" dirty="0"/>
              <a:t> </a:t>
            </a:r>
            <a:r>
              <a:rPr dirty="0"/>
              <a:t>and</a:t>
            </a:r>
            <a:r>
              <a:rPr spc="-25" dirty="0"/>
              <a:t> </a:t>
            </a:r>
            <a:r>
              <a:rPr spc="-10" dirty="0"/>
              <a:t>Future enhancements</a:t>
            </a:r>
          </a:p>
        </p:txBody>
      </p:sp>
      <p:sp>
        <p:nvSpPr>
          <p:cNvPr id="3" name="object 3"/>
          <p:cNvSpPr txBox="1"/>
          <p:nvPr/>
        </p:nvSpPr>
        <p:spPr>
          <a:xfrm>
            <a:off x="916939" y="1295400"/>
            <a:ext cx="10589261" cy="5052024"/>
          </a:xfrm>
          <a:prstGeom prst="rect">
            <a:avLst/>
          </a:prstGeom>
        </p:spPr>
        <p:txBody>
          <a:bodyPr vert="horz" wrap="square" lIns="0" tIns="95885" rIns="0" bIns="0" rtlCol="0">
            <a:spAutoFit/>
          </a:bodyPr>
          <a:lstStyle/>
          <a:p>
            <a:pPr marL="240665" indent="-227965">
              <a:lnSpc>
                <a:spcPct val="100000"/>
              </a:lnSpc>
              <a:spcBef>
                <a:spcPts val="755"/>
              </a:spcBef>
              <a:buFont typeface="Arial MT"/>
              <a:buChar char="•"/>
              <a:tabLst>
                <a:tab pos="240665" algn="l"/>
              </a:tabLst>
            </a:pPr>
            <a:r>
              <a:rPr sz="2800" dirty="0">
                <a:latin typeface="Courier New"/>
                <a:cs typeface="Courier New"/>
              </a:rPr>
              <a:t>Summary</a:t>
            </a:r>
            <a:r>
              <a:rPr sz="2800" spc="-35" dirty="0">
                <a:latin typeface="Courier New"/>
                <a:cs typeface="Courier New"/>
              </a:rPr>
              <a:t> </a:t>
            </a:r>
            <a:r>
              <a:rPr sz="2800" dirty="0">
                <a:latin typeface="Courier New"/>
                <a:cs typeface="Courier New"/>
              </a:rPr>
              <a:t>of</a:t>
            </a:r>
            <a:r>
              <a:rPr sz="2800" spc="-25" dirty="0">
                <a:latin typeface="Courier New"/>
                <a:cs typeface="Courier New"/>
              </a:rPr>
              <a:t> </a:t>
            </a:r>
            <a:r>
              <a:rPr sz="2800" dirty="0">
                <a:latin typeface="Courier New"/>
                <a:cs typeface="Courier New"/>
              </a:rPr>
              <a:t>work</a:t>
            </a:r>
            <a:r>
              <a:rPr sz="2800" spc="-25" dirty="0">
                <a:latin typeface="Courier New"/>
                <a:cs typeface="Courier New"/>
              </a:rPr>
              <a:t> </a:t>
            </a:r>
            <a:r>
              <a:rPr sz="2800" spc="-20" dirty="0">
                <a:latin typeface="Courier New"/>
                <a:cs typeface="Courier New"/>
              </a:rPr>
              <a:t>done</a:t>
            </a:r>
            <a:r>
              <a:rPr lang="en-US" sz="2800" spc="-20" dirty="0">
                <a:latin typeface="Courier New"/>
                <a:cs typeface="Courier New"/>
              </a:rPr>
              <a:t> :  </a:t>
            </a:r>
            <a:r>
              <a:rPr lang="en-US" spc="-20" dirty="0">
                <a:latin typeface="Courier New"/>
                <a:cs typeface="Courier New"/>
              </a:rPr>
              <a:t>This project successfully implemented a comparative framework for sign language recognition using two distinct probabilistic generative models: Hidden Markov Models (HMM) and Gaussian Mixture Models (GMM).Data Curating: Utilized a subset of the Sign</a:t>
            </a:r>
            <a:r>
              <a:rPr lang="en-US" sz="2800" spc="-20" dirty="0">
                <a:latin typeface="Courier New"/>
                <a:cs typeface="Courier New"/>
              </a:rPr>
              <a:t> </a:t>
            </a:r>
            <a:r>
              <a:rPr lang="en-US" spc="-20" dirty="0">
                <a:latin typeface="Courier New"/>
                <a:cs typeface="Courier New"/>
              </a:rPr>
              <a:t>Language MNIST dataset, focusing on specific pixel intensities (pixel1, pixel123) to evaluate model performance on sparse,</a:t>
            </a:r>
            <a:r>
              <a:rPr lang="en-US" sz="2800" spc="-20" dirty="0">
                <a:latin typeface="Courier New"/>
                <a:cs typeface="Courier New"/>
              </a:rPr>
              <a:t> </a:t>
            </a:r>
            <a:r>
              <a:rPr lang="en-US" spc="-20" dirty="0">
                <a:latin typeface="Courier New"/>
                <a:cs typeface="Courier New"/>
              </a:rPr>
              <a:t>high-contrast features. Algorithmic Implementation: * Developed a sequence</a:t>
            </a:r>
            <a:r>
              <a:rPr lang="en-US" sz="2800" spc="-20" dirty="0">
                <a:latin typeface="Courier New"/>
                <a:cs typeface="Courier New"/>
              </a:rPr>
              <a:t>-</a:t>
            </a:r>
            <a:r>
              <a:rPr lang="en-US" spc="-20" dirty="0">
                <a:latin typeface="Courier New"/>
                <a:cs typeface="Courier New"/>
              </a:rPr>
              <a:t>based classifier using hmm learn that models pixel transitions as hidden states. Developed a density-based classifier using </a:t>
            </a:r>
            <a:r>
              <a:rPr lang="en-US" spc="-20" dirty="0" err="1">
                <a:latin typeface="Courier New"/>
                <a:cs typeface="Courier New"/>
              </a:rPr>
              <a:t>sklearn</a:t>
            </a:r>
            <a:r>
              <a:rPr lang="en-US" spc="-20" dirty="0">
                <a:latin typeface="Courier New"/>
                <a:cs typeface="Courier New"/>
              </a:rPr>
              <a:t>. mixture</a:t>
            </a:r>
            <a:r>
              <a:rPr lang="en-US" sz="2800" spc="-20" dirty="0">
                <a:latin typeface="Courier New"/>
                <a:cs typeface="Courier New"/>
              </a:rPr>
              <a:t> </a:t>
            </a:r>
            <a:r>
              <a:rPr lang="en-US" spc="-20" dirty="0">
                <a:latin typeface="Courier New"/>
                <a:cs typeface="Courier New"/>
              </a:rPr>
              <a:t>that models signs as multi-modal Gaussian distributions. Experimental Benchmarking: Conducted iterative testing across varying state counts ($n=2$ to $5$) and computed average accuracies to ensure a robust performance baseline. Visual Analysis: Created a comparative</a:t>
            </a:r>
            <a:r>
              <a:rPr lang="en-US" sz="2800" spc="-20" dirty="0">
                <a:latin typeface="Courier New"/>
                <a:cs typeface="Courier New"/>
              </a:rPr>
              <a:t> </a:t>
            </a:r>
            <a:r>
              <a:rPr lang="en-US" spc="-20" dirty="0">
                <a:latin typeface="Courier New"/>
                <a:cs typeface="Courier New"/>
              </a:rPr>
              <a:t>data visualization to demonstrate the effectiveness of transition-based modeling (HMM) versus cluster-based modeling (GMM)</a:t>
            </a:r>
            <a:r>
              <a:rPr lang="en-US" sz="2800" spc="-20" dirty="0">
                <a:latin typeface="Courier New"/>
                <a:cs typeface="Courier New"/>
              </a:rPr>
              <a:t>. </a:t>
            </a:r>
            <a:endParaRPr sz="2800" dirty="0">
              <a:latin typeface="Courier New"/>
              <a:cs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BEA4DE-2378-B8C0-EB99-A686ADA72FE5}"/>
              </a:ext>
            </a:extLst>
          </p:cNvPr>
          <p:cNvSpPr txBox="1"/>
          <p:nvPr/>
        </p:nvSpPr>
        <p:spPr>
          <a:xfrm>
            <a:off x="1066800" y="-2015752"/>
            <a:ext cx="10515600" cy="369332"/>
          </a:xfrm>
          <a:prstGeom prst="rect">
            <a:avLst/>
          </a:prstGeom>
          <a:noFill/>
        </p:spPr>
        <p:txBody>
          <a:bodyPr wrap="square">
            <a:spAutoFit/>
          </a:bodyPr>
          <a:lstStyle/>
          <a:p>
            <a:r>
              <a:rPr lang="en-US" dirty="0"/>
              <a:t> </a:t>
            </a:r>
            <a:endParaRPr lang="en-US" sz="1500" dirty="0"/>
          </a:p>
        </p:txBody>
      </p:sp>
      <p:sp>
        <p:nvSpPr>
          <p:cNvPr id="5" name="TextBox 4">
            <a:extLst>
              <a:ext uri="{FF2B5EF4-FFF2-40B4-BE49-F238E27FC236}">
                <a16:creationId xmlns:a16="http://schemas.microsoft.com/office/drawing/2014/main" id="{D4F64E62-943A-C9F2-CC2D-ADBED9274D99}"/>
              </a:ext>
            </a:extLst>
          </p:cNvPr>
          <p:cNvSpPr txBox="1"/>
          <p:nvPr/>
        </p:nvSpPr>
        <p:spPr>
          <a:xfrm>
            <a:off x="457200" y="301238"/>
            <a:ext cx="11201400" cy="6463308"/>
          </a:xfrm>
          <a:prstGeom prst="rect">
            <a:avLst/>
          </a:prstGeom>
          <a:noFill/>
        </p:spPr>
        <p:txBody>
          <a:bodyPr wrap="square">
            <a:spAutoFit/>
          </a:bodyPr>
          <a:lstStyle/>
          <a:p>
            <a:r>
              <a:rPr lang="en-US" b="1" dirty="0"/>
              <a:t>Achievement of Objectives </a:t>
            </a:r>
            <a:r>
              <a:rPr lang="en-US" dirty="0"/>
              <a:t>: The project met all defined research goals :Demonstrated Statistical Feasibility: Proven that sign language gestures can be recognized using lightweight statistical models rather than heavy deep learning architectures. performance Comparison: Identified that HMM typically outperforms GMM in this domain because sign patterns contain inherent spatial "sequences" that HMMs are mathematically designed to capture. Low-Resource Efficiency: Achieved significant classification results using an extremely limited feature set (only two pixels), highlighting the potential for deployment on edge devices with minimal memory. Parameter Optimization: Successfully mapped the relationship between the number of hidden states/components and model accuracy.</a:t>
            </a:r>
          </a:p>
          <a:p>
            <a:r>
              <a:rPr lang="en-US" b="1" dirty="0"/>
              <a:t>Future Enhancements</a:t>
            </a:r>
            <a:r>
              <a:rPr lang="en-US" dirty="0"/>
              <a:t> : While the project established a strong baseline, the following enhancements could significantly improve the system's commercial and technical viability:</a:t>
            </a:r>
          </a:p>
          <a:p>
            <a:r>
              <a:rPr lang="en-US" dirty="0"/>
              <a:t>A. Feature Engineering &amp; Dimensionality Reduction Spatial Context: Instead of single pixels, use Principal Component Analysis (PCA) to extract the top $50$ components of the image, providing a richer data representation for the GMM clusters .HOG Features: Implement Histogram of Oriented Gradients (HOG) to capture the shape and edges of the hand, which are more robust than raw pixel intensities.</a:t>
            </a:r>
          </a:p>
          <a:p>
            <a:r>
              <a:rPr lang="en-US" dirty="0"/>
              <a:t>B. Model Hybridization HMM-GMM Hybrid: Develop a hybrid system where GMMs are used to model the emission probabilities within each state of an HMM. This is the industry standard for traditional speech and gesture recognition.</a:t>
            </a:r>
          </a:p>
          <a:p>
            <a:r>
              <a:rPr lang="en-US" dirty="0"/>
              <a:t>C. Expansion to Dynamic Sign Language Temporal Sequences: Transition from static image classification to video-based recognition. By processing a sequence of frames, the HMM can model the movement of the hand over time, enabling the recognition of complex phrases rather than just individual letters.</a:t>
            </a:r>
          </a:p>
          <a:p>
            <a:r>
              <a:rPr lang="en-US" dirty="0"/>
              <a:t>D. Real-Time Deployment Cross-Platform Integration: Port the trained models to a Raspberry Pi or mobile application using a webcam interface to demonstrate real-time, low-latency sign language translation for accessibility purposes.</a:t>
            </a:r>
          </a:p>
        </p:txBody>
      </p:sp>
    </p:spTree>
    <p:extLst>
      <p:ext uri="{BB962C8B-B14F-4D97-AF65-F5344CB8AC3E}">
        <p14:creationId xmlns:p14="http://schemas.microsoft.com/office/powerpoint/2010/main" val="28514193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4452" rIns="0" bIns="0" rtlCol="0">
            <a:spAutoFit/>
          </a:bodyPr>
          <a:lstStyle/>
          <a:p>
            <a:pPr marL="12700">
              <a:lnSpc>
                <a:spcPct val="100000"/>
              </a:lnSpc>
              <a:spcBef>
                <a:spcPts val="100"/>
              </a:spcBef>
            </a:pPr>
            <a:r>
              <a:rPr spc="-10" dirty="0"/>
              <a:t>References</a:t>
            </a:r>
          </a:p>
        </p:txBody>
      </p:sp>
      <p:sp>
        <p:nvSpPr>
          <p:cNvPr id="3" name="object 3"/>
          <p:cNvSpPr txBox="1"/>
          <p:nvPr/>
        </p:nvSpPr>
        <p:spPr>
          <a:xfrm>
            <a:off x="916938" y="1219200"/>
            <a:ext cx="9416415" cy="6026650"/>
          </a:xfrm>
          <a:prstGeom prst="rect">
            <a:avLst/>
          </a:prstGeom>
        </p:spPr>
        <p:txBody>
          <a:bodyPr vert="horz" wrap="square" lIns="0" tIns="95885" rIns="0" bIns="0" rtlCol="0">
            <a:spAutoFit/>
          </a:bodyPr>
          <a:lstStyle/>
          <a:p>
            <a:pPr marL="12700">
              <a:lnSpc>
                <a:spcPct val="100000"/>
              </a:lnSpc>
              <a:spcBef>
                <a:spcPts val="755"/>
              </a:spcBef>
              <a:tabLst>
                <a:tab pos="240665" algn="l"/>
              </a:tabLst>
            </a:pPr>
            <a:r>
              <a:rPr lang="en-US" spc="-10" dirty="0">
                <a:latin typeface="Courier New"/>
                <a:cs typeface="Courier New"/>
              </a:rPr>
              <a:t> Scientific Papers (Journal &amp; Conference)Starner, T., &amp; Pentland, A. (1998). "Real-time American Sign Language recognition using desk and wearable computer based video." IEEE Transactions on Pattern Analysis and Machine Intelligence, 20(12), 1371–1375.Key reference for HMM application in gesture sequence modeling. Vogler, C., &amp; Metaxas, D. (1999). "Parallel hidden Markov models for American Sign Language recognition." Proceedings of the Seventh IEEE International Conference on Computer Vision, 116–122.Explores scaling HMMs for complex sign language</a:t>
            </a:r>
            <a:r>
              <a:rPr lang="en-US" sz="2800" spc="-10" dirty="0">
                <a:latin typeface="Courier New"/>
                <a:cs typeface="Courier New"/>
              </a:rPr>
              <a:t> </a:t>
            </a:r>
            <a:r>
              <a:rPr lang="en-US" spc="-10" dirty="0">
                <a:latin typeface="Courier New"/>
                <a:cs typeface="Courier New"/>
              </a:rPr>
              <a:t>tasks. </a:t>
            </a:r>
            <a:r>
              <a:rPr lang="en-US" spc="-10" dirty="0" err="1">
                <a:latin typeface="Courier New"/>
                <a:cs typeface="Courier New"/>
              </a:rPr>
              <a:t>Bilmes</a:t>
            </a:r>
            <a:r>
              <a:rPr lang="en-US" spc="-10" dirty="0">
                <a:latin typeface="Courier New"/>
                <a:cs typeface="Courier New"/>
              </a:rPr>
              <a:t>, J. A. (1998). "A gentle tutorial of the EM algorithm</a:t>
            </a:r>
            <a:r>
              <a:rPr lang="en-US" sz="2800" spc="-10" dirty="0">
                <a:latin typeface="Courier New"/>
                <a:cs typeface="Courier New"/>
              </a:rPr>
              <a:t> </a:t>
            </a:r>
            <a:r>
              <a:rPr lang="en-US" spc="-10" dirty="0">
                <a:latin typeface="Courier New"/>
                <a:cs typeface="Courier New"/>
              </a:rPr>
              <a:t>and its application to parameter estimation for Gaussian mixture and hidden Markov models." International Computer Science Institute, 4(510), 126.The mathematical foundation for the training logic used in your code. Kelly, D., McDonald, J., &amp; Markham, C. (2009). "A Survey of Computer Vision-based Sensor Technology for Hand Gesture Analysis." International Journal of Computer Vision, 1–25.Provides a comparative context for generative vs. discriminative models.</a:t>
            </a:r>
          </a:p>
          <a:p>
            <a:pPr marL="12700">
              <a:lnSpc>
                <a:spcPct val="100000"/>
              </a:lnSpc>
              <a:spcBef>
                <a:spcPts val="755"/>
              </a:spcBef>
              <a:tabLst>
                <a:tab pos="240665" algn="l"/>
              </a:tabLst>
            </a:pPr>
            <a:endParaRPr lang="en-US" spc="-10" dirty="0">
              <a:latin typeface="Courier New"/>
              <a:cs typeface="Courier New"/>
            </a:endParaRPr>
          </a:p>
          <a:p>
            <a:pPr marL="12700">
              <a:lnSpc>
                <a:spcPct val="100000"/>
              </a:lnSpc>
              <a:spcBef>
                <a:spcPts val="755"/>
              </a:spcBef>
              <a:tabLst>
                <a:tab pos="240665" algn="l"/>
              </a:tabLst>
            </a:pPr>
            <a:endParaRPr sz="2800" dirty="0">
              <a:latin typeface="Courier New"/>
              <a:cs typeface="Courier New"/>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3DBE21-A465-14FB-CE1D-67ABE385C029}"/>
              </a:ext>
            </a:extLst>
          </p:cNvPr>
          <p:cNvSpPr txBox="1"/>
          <p:nvPr/>
        </p:nvSpPr>
        <p:spPr>
          <a:xfrm>
            <a:off x="838200" y="754237"/>
            <a:ext cx="10058400" cy="4247317"/>
          </a:xfrm>
          <a:prstGeom prst="rect">
            <a:avLst/>
          </a:prstGeom>
          <a:noFill/>
        </p:spPr>
        <p:txBody>
          <a:bodyPr wrap="square">
            <a:spAutoFit/>
          </a:bodyPr>
          <a:lstStyle/>
          <a:p>
            <a:r>
              <a:rPr lang="en-US" dirty="0"/>
              <a:t> </a:t>
            </a:r>
            <a:r>
              <a:rPr lang="en-US" b="1" dirty="0"/>
              <a:t>Books</a:t>
            </a:r>
            <a:r>
              <a:rPr lang="en-US" dirty="0"/>
              <a:t> : Rabiner, L., &amp; Juang, B. H. (1993). Fundamentals of Speech Recognition. Prentice Hall. The definitive text on Hidden Markov Models and their transition/emission matrices. Bishop, C. M. (2006). Pattern Recognition and Machine Learning. Springer. Crucial for understanding the probability density functions in Gaussian Mixture Models. Murphy, K. P. (2012). Machine Learning: A Probabilistic Perspective. MIT Press. Excellent reference for EM (Expectation-Maximization) algorithms used in both HMM and GMM.</a:t>
            </a:r>
          </a:p>
          <a:p>
            <a:r>
              <a:rPr lang="en-US" b="1" dirty="0"/>
              <a:t>Technical Documentation &amp; Websites : </a:t>
            </a:r>
            <a:r>
              <a:rPr lang="en-US" dirty="0"/>
              <a:t>Scikit-Learn Documentation: "Gaussian Mixture Models.</a:t>
            </a:r>
          </a:p>
          <a:p>
            <a:r>
              <a:rPr lang="en-US" dirty="0"/>
              <a:t>"URL: </a:t>
            </a:r>
            <a:r>
              <a:rPr lang="en-US" dirty="0">
                <a:hlinkClick r:id="rId2"/>
              </a:rPr>
              <a:t>https://scikit-learn.org/stable/modules/mixture.htmlhmmlearn</a:t>
            </a:r>
            <a:endParaRPr lang="en-US" dirty="0"/>
          </a:p>
          <a:p>
            <a:r>
              <a:rPr lang="en-US" dirty="0"/>
              <a:t> Documentation: "API Reference for Hidden Markov Models</a:t>
            </a:r>
          </a:p>
          <a:p>
            <a:r>
              <a:rPr lang="en-US" dirty="0"/>
              <a:t>."URL: </a:t>
            </a:r>
            <a:r>
              <a:rPr lang="en-US" dirty="0">
                <a:hlinkClick r:id="rId3"/>
              </a:rPr>
              <a:t>https://hmmlearn.readthedocs.io/Kaggle</a:t>
            </a:r>
            <a:endParaRPr lang="en-US" dirty="0"/>
          </a:p>
          <a:p>
            <a:r>
              <a:rPr lang="en-US" dirty="0"/>
              <a:t> Dataset: "Sign Language MNIST</a:t>
            </a:r>
          </a:p>
          <a:p>
            <a:r>
              <a:rPr lang="en-US" dirty="0"/>
              <a:t>."URL: </a:t>
            </a:r>
            <a:r>
              <a:rPr lang="en-US" dirty="0">
                <a:hlinkClick r:id="rId4"/>
              </a:rPr>
              <a:t>https://www.kaggle.com/datamunge/sign-language-mnist</a:t>
            </a:r>
            <a:endParaRPr lang="en-US" dirty="0"/>
          </a:p>
          <a:p>
            <a:r>
              <a:rPr lang="en-US" dirty="0"/>
              <a:t>Towards Data Science: "Hidden Markov Models Simplified.</a:t>
            </a:r>
          </a:p>
          <a:p>
            <a:r>
              <a:rPr lang="en-US" dirty="0"/>
              <a:t>"URL: https://towardsdatascience.com/</a:t>
            </a:r>
          </a:p>
        </p:txBody>
      </p:sp>
    </p:spTree>
    <p:extLst>
      <p:ext uri="{BB962C8B-B14F-4D97-AF65-F5344CB8AC3E}">
        <p14:creationId xmlns:p14="http://schemas.microsoft.com/office/powerpoint/2010/main" val="1448785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3233" y="2304737"/>
            <a:ext cx="7609840" cy="2294890"/>
          </a:xfrm>
          <a:prstGeom prst="rect">
            <a:avLst/>
          </a:prstGeom>
        </p:spPr>
        <p:txBody>
          <a:bodyPr vert="horz" wrap="square" lIns="0" tIns="127635" rIns="0" bIns="0" rtlCol="0">
            <a:spAutoFit/>
          </a:bodyPr>
          <a:lstStyle/>
          <a:p>
            <a:pPr marL="12700">
              <a:lnSpc>
                <a:spcPct val="100000"/>
              </a:lnSpc>
              <a:spcBef>
                <a:spcPts val="1005"/>
              </a:spcBef>
            </a:pPr>
            <a:r>
              <a:rPr sz="12000" dirty="0">
                <a:solidFill>
                  <a:srgbClr val="FFFFFF"/>
                </a:solidFill>
                <a:latin typeface="Calibri"/>
                <a:cs typeface="Calibri"/>
              </a:rPr>
              <a:t>THANK</a:t>
            </a:r>
            <a:r>
              <a:rPr sz="12000" spc="-10" dirty="0">
                <a:solidFill>
                  <a:srgbClr val="FFFFFF"/>
                </a:solidFill>
                <a:latin typeface="Calibri"/>
                <a:cs typeface="Calibri"/>
              </a:rPr>
              <a:t> </a:t>
            </a:r>
            <a:r>
              <a:rPr sz="12000" spc="-135" dirty="0">
                <a:solidFill>
                  <a:srgbClr val="FFFFFF"/>
                </a:solidFill>
                <a:latin typeface="Calibri"/>
                <a:cs typeface="Calibri"/>
              </a:rPr>
              <a:t>YOU</a:t>
            </a:r>
            <a:endParaRPr sz="12000">
              <a:latin typeface="Calibri"/>
              <a:cs typeface="Calibri"/>
            </a:endParaRPr>
          </a:p>
          <a:p>
            <a:pPr marL="78105" algn="ctr">
              <a:lnSpc>
                <a:spcPct val="100000"/>
              </a:lnSpc>
              <a:spcBef>
                <a:spcPts val="160"/>
              </a:spcBef>
            </a:pPr>
            <a:r>
              <a:rPr sz="2000" b="0" spc="-10" dirty="0">
                <a:solidFill>
                  <a:srgbClr val="FFFFFF"/>
                </a:solidFill>
                <a:latin typeface="Arial MT"/>
                <a:cs typeface="Arial MT"/>
              </a:rPr>
              <a:t>onlineamrita.com</a:t>
            </a:r>
            <a:endParaRPr sz="2000">
              <a:latin typeface="Arial MT"/>
              <a:cs typeface="Arial M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261</TotalTime>
  <Words>6457</Words>
  <Application>Microsoft Office PowerPoint</Application>
  <PresentationFormat>Widescreen</PresentationFormat>
  <Paragraphs>308</Paragraphs>
  <Slides>40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Arial MT</vt:lpstr>
      <vt:lpstr>Calibri</vt:lpstr>
      <vt:lpstr>Courier New</vt:lpstr>
      <vt:lpstr>Google Sans</vt:lpstr>
      <vt:lpstr>Google Sans Text</vt:lpstr>
      <vt:lpstr>Office Theme</vt:lpstr>
      <vt:lpstr>21CSA697A – Minor Project</vt:lpstr>
      <vt:lpstr>PowerPoint Presentation</vt:lpstr>
      <vt:lpstr>Introduction</vt:lpstr>
      <vt:lpstr>PowerPoint Presentation</vt:lpstr>
      <vt:lpstr>Problem Statement</vt:lpstr>
      <vt:lpstr>PowerPoint Presentation</vt:lpstr>
      <vt:lpstr>PowerPoint Presentation</vt:lpstr>
      <vt:lpstr>PowerPoint Presentation</vt:lpstr>
      <vt:lpstr>Scope of the Project</vt:lpstr>
      <vt:lpstr>PowerPoint Presentation</vt:lpstr>
      <vt:lpstr>Literature Review / Existing System</vt:lpstr>
      <vt:lpstr>PowerPoint Presentation</vt:lpstr>
      <vt:lpstr>PowerPoint Presentation</vt:lpstr>
      <vt:lpstr>Proposed System</vt:lpstr>
      <vt:lpstr>PowerPoint Presentation</vt:lpstr>
      <vt:lpstr>PowerPoint Presentation</vt:lpstr>
      <vt:lpstr>Architecture</vt:lpstr>
      <vt:lpstr>PowerPoint Presentation</vt:lpstr>
      <vt:lpstr>PowerPoint Presentation</vt:lpstr>
      <vt:lpstr>Methodology / Algorithms</vt:lpstr>
      <vt:lpstr>PowerPoint Presentation</vt:lpstr>
      <vt:lpstr>PowerPoint Presentation</vt:lpstr>
      <vt:lpstr>Implementation Details</vt:lpstr>
      <vt:lpstr>PowerPoint Presentation</vt:lpstr>
      <vt:lpstr>Dataset Description</vt:lpstr>
      <vt:lpstr>PowerPoint Presentation</vt:lpstr>
      <vt:lpstr>Implementation Details</vt:lpstr>
      <vt:lpstr>PowerPoint Presentation</vt:lpstr>
      <vt:lpstr>PowerPoint Presentation</vt:lpstr>
      <vt:lpstr>Results &amp; Output</vt:lpstr>
      <vt:lpstr>PowerPoint Presentation</vt:lpstr>
      <vt:lpstr>PowerPoint Presentation</vt:lpstr>
      <vt:lpstr>Testing &amp; Validation</vt:lpstr>
      <vt:lpstr>PowerPoint Presentation</vt:lpstr>
      <vt:lpstr>PowerPoint Presentation</vt:lpstr>
      <vt:lpstr>Conclusion and Future enhancements</vt:lpstr>
      <vt:lpstr>PowerPoint Presentation</vt:lpstr>
      <vt:lpstr>References</vt:lpstr>
      <vt:lpstr>PowerPoint Presentation</vt:lpstr>
      <vt:lpstr>THANK YOU onlineamrita.com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Bhagya Sri</dc:creator>
  <cp:lastModifiedBy>yella bhagyasri</cp:lastModifiedBy>
  <cp:revision>3</cp:revision>
  <dcterms:created xsi:type="dcterms:W3CDTF">2026-02-17T07:05:51Z</dcterms:created>
  <dcterms:modified xsi:type="dcterms:W3CDTF">2026-02-17T12:59:43Z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2025-12-26T00:00:00Z</vt:filetime>
  </property>
  <property fmtid="{D5CDD505-2E9C-101B-9397-08002B2CF9AE}" pid="3" name="Creator">
    <vt:lpwstr>Microsoft® PowerPoint® 2016</vt:lpwstr>
  </property>
  <property fmtid="{D5CDD505-2E9C-101B-9397-08002B2CF9AE}" pid="4" name="LastSaved">
    <vt:filetime>2026-02-17T00:00:00Z</vt:filetime>
  </property>
  <property fmtid="{D5CDD505-2E9C-101B-9397-08002B2CF9AE}" pid="5" name="Producer">
    <vt:lpwstr>www.ilovepdf.com</vt:lpwstr>
  </property>
</Properties>
</file>